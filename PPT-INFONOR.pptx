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5"/>
  </p:notesMasterIdLst>
  <p:sldIdLst>
    <p:sldId id="256" r:id="rId2"/>
    <p:sldId id="258" r:id="rId3"/>
    <p:sldId id="260" r:id="rId4"/>
    <p:sldId id="261" r:id="rId5"/>
    <p:sldId id="288" r:id="rId6"/>
    <p:sldId id="292" r:id="rId7"/>
    <p:sldId id="293" r:id="rId8"/>
    <p:sldId id="291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289" r:id="rId17"/>
    <p:sldId id="306" r:id="rId18"/>
    <p:sldId id="302" r:id="rId19"/>
    <p:sldId id="303" r:id="rId20"/>
    <p:sldId id="304" r:id="rId21"/>
    <p:sldId id="301" r:id="rId22"/>
    <p:sldId id="305" r:id="rId23"/>
    <p:sldId id="290" r:id="rId24"/>
  </p:sldIdLst>
  <p:sldSz cx="9144000" cy="5143500" type="screen16x9"/>
  <p:notesSz cx="6858000" cy="9144000"/>
  <p:embeddedFontLst>
    <p:embeddedFont>
      <p:font typeface="Anaheim" panose="020B0604020202020204" charset="0"/>
      <p:regular r:id="rId26"/>
      <p:bold r:id="rId27"/>
    </p:embeddedFont>
    <p:embeddedFont>
      <p:font typeface="Bahnschrift" panose="020B0502040204020203" pitchFamily="34" charset="0"/>
      <p:regular r:id="rId28"/>
      <p:bold r:id="rId29"/>
    </p:embeddedFont>
    <p:embeddedFont>
      <p:font typeface="Bebas Neue" panose="020B0604020202020204" charset="0"/>
      <p:regular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DM Sans" panose="020B0604020202020204" charset="0"/>
      <p:regular r:id="rId35"/>
      <p:bold r:id="rId36"/>
      <p:italic r:id="rId37"/>
      <p:boldItalic r:id="rId38"/>
    </p:embeddedFont>
    <p:embeddedFont>
      <p:font typeface="Funnel Sans" panose="020B0604020202020204" charset="0"/>
      <p:regular r:id="rId39"/>
      <p:bold r:id="rId40"/>
      <p:italic r:id="rId41"/>
      <p:boldItalic r:id="rId42"/>
    </p:embeddedFont>
    <p:embeddedFont>
      <p:font typeface="Nunito Light" pitchFamily="2" charset="0"/>
      <p:regular r:id="rId43"/>
      <p:italic r:id="rId44"/>
    </p:embeddedFont>
    <p:embeddedFont>
      <p:font typeface="Open Sans Light" panose="020B0306030504020204" pitchFamily="34" charset="0"/>
      <p:regular r:id="rId45"/>
      <p:italic r:id="rId46"/>
    </p:embeddedFont>
    <p:embeddedFont>
      <p:font typeface="Wide Latin" panose="020A0A07050505020404" pitchFamily="18" charset="0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917"/>
    <a:srgbClr val="0A1322"/>
    <a:srgbClr val="1A2D4E"/>
    <a:srgbClr val="253F68"/>
    <a:srgbClr val="050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9639D4-E3E2-4D34-9284-5A2195B3D0D7}">
  <a:tblStyle styleId="{13E953B3-0B76-4E52-B2A9-AF3B7241DA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648"/>
  </p:normalViewPr>
  <p:slideViewPr>
    <p:cSldViewPr snapToGrid="0">
      <p:cViewPr varScale="1">
        <p:scale>
          <a:sx n="142" d="100"/>
          <a:sy n="142" d="100"/>
        </p:scale>
        <p:origin x="10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c8b2adbfc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c8b2adbfc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32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061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150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2665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679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409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473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8179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48200" y="904425"/>
            <a:ext cx="5316600" cy="179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81623" y="3251225"/>
            <a:ext cx="31149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808222" y="1759600"/>
            <a:ext cx="6369300" cy="7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640475" y="1699750"/>
            <a:ext cx="949800" cy="8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rgbClr val="E9791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13225" y="802828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rgbClr val="0A132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97917"/>
              </a:buClr>
              <a:buSzPts val="1600"/>
              <a:buFont typeface="Open Sans Light"/>
              <a:buChar char="●"/>
              <a:defRPr>
                <a:solidFill>
                  <a:srgbClr val="0A132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rgbClr val="0A132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>
                <a:solidFill>
                  <a:srgbClr val="0A132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0A132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rgbClr val="1A2D4E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1;p29">
            <a:extLst>
              <a:ext uri="{FF2B5EF4-FFF2-40B4-BE49-F238E27FC236}">
                <a16:creationId xmlns:a16="http://schemas.microsoft.com/office/drawing/2014/main" id="{C5B707BF-256E-FDED-BACB-D98904B72C48}"/>
              </a:ext>
            </a:extLst>
          </p:cNvPr>
          <p:cNvSpPr/>
          <p:nvPr userDrawn="1"/>
        </p:nvSpPr>
        <p:spPr>
          <a:xfrm flipH="1">
            <a:off x="-84669" y="-26326"/>
            <a:ext cx="3826935" cy="5233323"/>
          </a:xfrm>
          <a:prstGeom prst="rect">
            <a:avLst/>
          </a:prstGeom>
          <a:gradFill>
            <a:gsLst>
              <a:gs pos="0">
                <a:srgbClr val="253F68"/>
              </a:gs>
              <a:gs pos="100000">
                <a:srgbClr val="1A2D4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193F1E21-5099-A6FD-77AE-C698C63CB17B}"/>
              </a:ext>
            </a:extLst>
          </p:cNvPr>
          <p:cNvSpPr/>
          <p:nvPr userDrawn="1"/>
        </p:nvSpPr>
        <p:spPr>
          <a:xfrm rot="5400000">
            <a:off x="2832830" y="2576618"/>
            <a:ext cx="1812298" cy="79729"/>
          </a:xfrm>
          <a:prstGeom prst="roundRect">
            <a:avLst>
              <a:gd name="adj" fmla="val 50000"/>
            </a:avLst>
          </a:prstGeom>
          <a:solidFill>
            <a:srgbClr val="E9791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1048450" y="1925250"/>
            <a:ext cx="19854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1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4204646" y="76834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rgbClr val="0A132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4204646" y="283407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rgbClr val="0A132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46" y="145693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rgbClr val="0A132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46" y="35226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rgbClr val="0A132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4204646" y="214550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rgbClr val="0A132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4204646" y="421121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rgbClr val="0A132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019075" y="768375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rgbClr val="0A132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5019075" y="1456939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rgbClr val="0A132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9"/>
          </p:nvPr>
        </p:nvSpPr>
        <p:spPr>
          <a:xfrm>
            <a:off x="5019075" y="2145503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rgbClr val="0A132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3"/>
          </p:nvPr>
        </p:nvSpPr>
        <p:spPr>
          <a:xfrm>
            <a:off x="5019075" y="2834067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rgbClr val="0A132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4"/>
          </p:nvPr>
        </p:nvSpPr>
        <p:spPr>
          <a:xfrm>
            <a:off x="5019075" y="3522631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rgbClr val="0A132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5"/>
          </p:nvPr>
        </p:nvSpPr>
        <p:spPr>
          <a:xfrm>
            <a:off x="5019075" y="4211195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rgbClr val="0A132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rgbClr val="0A132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rgbClr val="0A132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713250" y="755126"/>
            <a:ext cx="7717500" cy="795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rgbClr val="0A132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3637925" y="2999700"/>
            <a:ext cx="5054100" cy="16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rgbClr val="0A132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720000" y="820525"/>
            <a:ext cx="4540200" cy="10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rgbClr val="0A132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371650" y="1989550"/>
            <a:ext cx="4619100" cy="21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7917"/>
              </a:buClr>
              <a:buSzPts val="1200"/>
              <a:buFont typeface="Open Sans Light"/>
              <a:buChar char="●"/>
              <a:defRPr>
                <a:solidFill>
                  <a:srgbClr val="0A132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5414150" y="-75"/>
            <a:ext cx="3729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2" name="Google Shape;271;p29">
            <a:extLst>
              <a:ext uri="{FF2B5EF4-FFF2-40B4-BE49-F238E27FC236}">
                <a16:creationId xmlns:a16="http://schemas.microsoft.com/office/drawing/2014/main" id="{C93AD910-E043-8E9C-DB5E-856E68D76F19}"/>
              </a:ext>
            </a:extLst>
          </p:cNvPr>
          <p:cNvSpPr/>
          <p:nvPr userDrawn="1"/>
        </p:nvSpPr>
        <p:spPr>
          <a:xfrm flipH="1">
            <a:off x="-51750" y="-8542"/>
            <a:ext cx="302369" cy="5233323"/>
          </a:xfrm>
          <a:prstGeom prst="rect">
            <a:avLst/>
          </a:prstGeom>
          <a:gradFill>
            <a:gsLst>
              <a:gs pos="0">
                <a:srgbClr val="253F68"/>
              </a:gs>
              <a:gs pos="100000">
                <a:srgbClr val="1A2D4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565186" y="1736332"/>
            <a:ext cx="4448100" cy="77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650086" y="2582349"/>
            <a:ext cx="43632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A1322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unnel Sans"/>
              <a:buNone/>
              <a:defRPr sz="26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nnel Sans"/>
              <a:buNone/>
              <a:defRPr sz="3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6" r:id="rId13"/>
    <p:sldLayoutId id="2147483667" r:id="rId14"/>
    <p:sldLayoutId id="214748366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EA4335"/>
          </p15:clr>
        </p15:guide>
        <p15:guide id="2" pos="5616">
          <p15:clr>
            <a:srgbClr val="EA4335"/>
          </p15:clr>
        </p15:guide>
        <p15:guide id="3" orient="horz" pos="144">
          <p15:clr>
            <a:srgbClr val="EA4335"/>
          </p15:clr>
        </p15:guide>
        <p15:guide id="4" orient="horz" pos="309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ctrTitle"/>
          </p:nvPr>
        </p:nvSpPr>
        <p:spPr>
          <a:xfrm>
            <a:off x="490532" y="992177"/>
            <a:ext cx="8525720" cy="21776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/>
              <a:t>Detección de Neumonía a Partir de Radiografías de Tórax Mediante Validación Cruzada Estratificada y Fine-</a:t>
            </a:r>
            <a:r>
              <a:rPr lang="es-ES" sz="3200" dirty="0" err="1"/>
              <a:t>Tuning</a:t>
            </a:r>
            <a:r>
              <a:rPr lang="es-ES" sz="3200" dirty="0"/>
              <a:t> de DenseNet121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188" name="Google Shape;188;p27"/>
          <p:cNvSpPr txBox="1">
            <a:spLocks noGrp="1"/>
          </p:cNvSpPr>
          <p:nvPr>
            <p:ph type="subTitle" idx="1"/>
          </p:nvPr>
        </p:nvSpPr>
        <p:spPr>
          <a:xfrm>
            <a:off x="573156" y="3494919"/>
            <a:ext cx="5480512" cy="1195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Marco Fidel Mayta Quispe, Leonid Aleman Gonzales.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/>
              <a:t>Instituto de Investigación en Inteligencia Computacional y Ciencia de Datos (IIICCD), Facultad de Ingeniería Estadística e Informática, Universidad Nacional del Altiplano de Puno.</a:t>
            </a:r>
            <a:endParaRPr lang="en" sz="1100" dirty="0">
              <a:solidFill>
                <a:schemeClr val="accent2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8C721F-2F7B-F91C-806F-B13AC46E3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850" y="127000"/>
            <a:ext cx="1306186" cy="1009326"/>
          </a:xfrm>
          <a:prstGeom prst="rect">
            <a:avLst/>
          </a:prstGeom>
        </p:spPr>
      </p:pic>
      <p:sp>
        <p:nvSpPr>
          <p:cNvPr id="9" name="Google Shape;188;p27">
            <a:extLst>
              <a:ext uri="{FF2B5EF4-FFF2-40B4-BE49-F238E27FC236}">
                <a16:creationId xmlns:a16="http://schemas.microsoft.com/office/drawing/2014/main" id="{AE514641-EB21-1C71-4D4C-1011DF094261}"/>
              </a:ext>
            </a:extLst>
          </p:cNvPr>
          <p:cNvSpPr txBox="1">
            <a:spLocks/>
          </p:cNvSpPr>
          <p:nvPr/>
        </p:nvSpPr>
        <p:spPr>
          <a:xfrm>
            <a:off x="0" y="4222762"/>
            <a:ext cx="91440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/>
            <a:r>
              <a:rPr lang="es-CL" sz="900" dirty="0">
                <a:solidFill>
                  <a:schemeClr val="accent2"/>
                </a:solidFill>
              </a:rPr>
              <a:t>Arica - Chile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1C5E5531-1445-DB25-C280-5CF56DD1C0EB}"/>
              </a:ext>
            </a:extLst>
          </p:cNvPr>
          <p:cNvSpPr/>
          <p:nvPr/>
        </p:nvSpPr>
        <p:spPr>
          <a:xfrm>
            <a:off x="506318" y="3361221"/>
            <a:ext cx="7706349" cy="45719"/>
          </a:xfrm>
          <a:prstGeom prst="roundRect">
            <a:avLst>
              <a:gd name="adj" fmla="val 50000"/>
            </a:avLst>
          </a:prstGeom>
          <a:solidFill>
            <a:srgbClr val="E9791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42630BEC-BAAC-964C-70F8-5E185F246012}"/>
              </a:ext>
            </a:extLst>
          </p:cNvPr>
          <p:cNvSpPr/>
          <p:nvPr/>
        </p:nvSpPr>
        <p:spPr>
          <a:xfrm>
            <a:off x="4148668" y="4459910"/>
            <a:ext cx="870384" cy="230621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5DA3EA3-1913-1E75-1F94-C8078ED15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33" y="359078"/>
            <a:ext cx="2385054" cy="624657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D667E42-66DE-43C3-FA00-46769B5C36C7}"/>
              </a:ext>
            </a:extLst>
          </p:cNvPr>
          <p:cNvCxnSpPr/>
          <p:nvPr/>
        </p:nvCxnSpPr>
        <p:spPr>
          <a:xfrm>
            <a:off x="6053667" y="359078"/>
            <a:ext cx="0" cy="5129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"/>
          <p:cNvSpPr txBox="1">
            <a:spLocks noGrp="1"/>
          </p:cNvSpPr>
          <p:nvPr>
            <p:ph type="title"/>
          </p:nvPr>
        </p:nvSpPr>
        <p:spPr>
          <a:xfrm>
            <a:off x="714723" y="1925250"/>
            <a:ext cx="222815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accent2"/>
                </a:solidFill>
              </a:rPr>
              <a:t>Tabla</a:t>
            </a:r>
            <a:r>
              <a:rPr lang="en" dirty="0">
                <a:solidFill>
                  <a:schemeClr val="accent2"/>
                </a:solidFill>
              </a:rPr>
              <a:t> de </a:t>
            </a:r>
            <a:r>
              <a:rPr lang="en" dirty="0" err="1">
                <a:solidFill>
                  <a:srgbClr val="E97917"/>
                </a:solidFill>
              </a:rPr>
              <a:t>contenidos</a:t>
            </a:r>
            <a:endParaRPr dirty="0">
              <a:solidFill>
                <a:srgbClr val="E97917"/>
              </a:solidFill>
            </a:endParaRPr>
          </a:p>
        </p:txBody>
      </p:sp>
      <p:sp>
        <p:nvSpPr>
          <p:cNvPr id="273" name="Google Shape;273;p29"/>
          <p:cNvSpPr txBox="1">
            <a:spLocks noGrp="1"/>
          </p:cNvSpPr>
          <p:nvPr>
            <p:ph type="title" idx="2"/>
          </p:nvPr>
        </p:nvSpPr>
        <p:spPr>
          <a:xfrm>
            <a:off x="4204646" y="76834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A1322"/>
                </a:solidFill>
              </a:rPr>
              <a:t>01</a:t>
            </a:r>
            <a:endParaRPr dirty="0">
              <a:solidFill>
                <a:srgbClr val="0A1322"/>
              </a:solidFill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3"/>
          </p:nvPr>
        </p:nvSpPr>
        <p:spPr>
          <a:xfrm>
            <a:off x="4204646" y="283407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322"/>
                </a:solidFill>
              </a:rPr>
              <a:t>04</a:t>
            </a:r>
            <a:endParaRPr>
              <a:solidFill>
                <a:srgbClr val="0A1322"/>
              </a:solidFill>
            </a:endParaRPr>
          </a:p>
        </p:txBody>
      </p:sp>
      <p:sp>
        <p:nvSpPr>
          <p:cNvPr id="275" name="Google Shape;275;p29"/>
          <p:cNvSpPr txBox="1">
            <a:spLocks noGrp="1"/>
          </p:cNvSpPr>
          <p:nvPr>
            <p:ph type="title" idx="4"/>
          </p:nvPr>
        </p:nvSpPr>
        <p:spPr>
          <a:xfrm>
            <a:off x="4204646" y="145693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322"/>
                </a:solidFill>
              </a:rPr>
              <a:t>02</a:t>
            </a:r>
            <a:endParaRPr>
              <a:solidFill>
                <a:srgbClr val="0A1322"/>
              </a:solidFill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5"/>
          </p:nvPr>
        </p:nvSpPr>
        <p:spPr>
          <a:xfrm>
            <a:off x="4204646" y="352264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322"/>
                </a:solidFill>
              </a:rPr>
              <a:t>05</a:t>
            </a:r>
            <a:endParaRPr>
              <a:solidFill>
                <a:srgbClr val="0A1322"/>
              </a:solidFill>
            </a:endParaRPr>
          </a:p>
        </p:txBody>
      </p:sp>
      <p:sp>
        <p:nvSpPr>
          <p:cNvPr id="277" name="Google Shape;277;p29"/>
          <p:cNvSpPr txBox="1">
            <a:spLocks noGrp="1"/>
          </p:cNvSpPr>
          <p:nvPr>
            <p:ph type="title" idx="6"/>
          </p:nvPr>
        </p:nvSpPr>
        <p:spPr>
          <a:xfrm>
            <a:off x="4204646" y="214550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322"/>
                </a:solidFill>
              </a:rPr>
              <a:t>03</a:t>
            </a:r>
            <a:endParaRPr>
              <a:solidFill>
                <a:srgbClr val="0A1322"/>
              </a:solidFill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7"/>
          </p:nvPr>
        </p:nvSpPr>
        <p:spPr>
          <a:xfrm>
            <a:off x="4204646" y="421121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A1322"/>
                </a:solidFill>
              </a:rPr>
              <a:t>06</a:t>
            </a:r>
            <a:endParaRPr dirty="0">
              <a:solidFill>
                <a:srgbClr val="0A1322"/>
              </a:solidFill>
            </a:endParaRPr>
          </a:p>
        </p:txBody>
      </p:sp>
      <p:sp>
        <p:nvSpPr>
          <p:cNvPr id="279" name="Google Shape;279;p29"/>
          <p:cNvSpPr txBox="1">
            <a:spLocks noGrp="1"/>
          </p:cNvSpPr>
          <p:nvPr>
            <p:ph type="subTitle" idx="1"/>
          </p:nvPr>
        </p:nvSpPr>
        <p:spPr>
          <a:xfrm>
            <a:off x="5019075" y="768375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0A1322"/>
                </a:solidFill>
              </a:rPr>
              <a:t>Introducción</a:t>
            </a:r>
            <a:endParaRPr dirty="0">
              <a:solidFill>
                <a:srgbClr val="0A1322"/>
              </a:solidFill>
            </a:endParaRPr>
          </a:p>
        </p:txBody>
      </p:sp>
      <p:sp>
        <p:nvSpPr>
          <p:cNvPr id="280" name="Google Shape;280;p29"/>
          <p:cNvSpPr txBox="1">
            <a:spLocks noGrp="1"/>
          </p:cNvSpPr>
          <p:nvPr>
            <p:ph type="subTitle" idx="8"/>
          </p:nvPr>
        </p:nvSpPr>
        <p:spPr>
          <a:xfrm>
            <a:off x="5019075" y="1456939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A1322"/>
                </a:solidFill>
              </a:rPr>
              <a:t>Metodología</a:t>
            </a:r>
          </a:p>
        </p:txBody>
      </p:sp>
      <p:sp>
        <p:nvSpPr>
          <p:cNvPr id="281" name="Google Shape;281;p29"/>
          <p:cNvSpPr txBox="1">
            <a:spLocks noGrp="1"/>
          </p:cNvSpPr>
          <p:nvPr>
            <p:ph type="subTitle" idx="9"/>
          </p:nvPr>
        </p:nvSpPr>
        <p:spPr>
          <a:xfrm>
            <a:off x="5019075" y="2145503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A1322"/>
                </a:solidFill>
              </a:rPr>
              <a:t>Resultados</a:t>
            </a:r>
          </a:p>
        </p:txBody>
      </p:sp>
      <p:sp>
        <p:nvSpPr>
          <p:cNvPr id="282" name="Google Shape;282;p29"/>
          <p:cNvSpPr txBox="1">
            <a:spLocks noGrp="1"/>
          </p:cNvSpPr>
          <p:nvPr>
            <p:ph type="subTitle" idx="13"/>
          </p:nvPr>
        </p:nvSpPr>
        <p:spPr>
          <a:xfrm>
            <a:off x="5019075" y="2834067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A1322"/>
                </a:solidFill>
              </a:rPr>
              <a:t>Conclusiones</a:t>
            </a:r>
          </a:p>
        </p:txBody>
      </p:sp>
      <p:sp>
        <p:nvSpPr>
          <p:cNvPr id="283" name="Google Shape;283;p29"/>
          <p:cNvSpPr txBox="1">
            <a:spLocks noGrp="1"/>
          </p:cNvSpPr>
          <p:nvPr>
            <p:ph type="subTitle" idx="14"/>
          </p:nvPr>
        </p:nvSpPr>
        <p:spPr>
          <a:xfrm>
            <a:off x="5019075" y="3522631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Discusión</a:t>
            </a:r>
            <a:endParaRPr lang="es-CL" dirty="0">
              <a:solidFill>
                <a:srgbClr val="0A1322"/>
              </a:solidFill>
            </a:endParaRPr>
          </a:p>
        </p:txBody>
      </p:sp>
      <p:sp>
        <p:nvSpPr>
          <p:cNvPr id="284" name="Google Shape;284;p29"/>
          <p:cNvSpPr txBox="1">
            <a:spLocks noGrp="1"/>
          </p:cNvSpPr>
          <p:nvPr>
            <p:ph type="subTitle" idx="15"/>
          </p:nvPr>
        </p:nvSpPr>
        <p:spPr>
          <a:xfrm>
            <a:off x="5019075" y="4211195"/>
            <a:ext cx="35928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 err="1">
                <a:solidFill>
                  <a:srgbClr val="0A1322"/>
                </a:solidFill>
              </a:rPr>
              <a:t>Lorem</a:t>
            </a:r>
            <a:r>
              <a:rPr lang="es-CL" dirty="0">
                <a:solidFill>
                  <a:srgbClr val="0A1322"/>
                </a:solidFill>
              </a:rPr>
              <a:t> </a:t>
            </a:r>
            <a:r>
              <a:rPr lang="es-CL" dirty="0" err="1">
                <a:solidFill>
                  <a:srgbClr val="0A1322"/>
                </a:solidFill>
              </a:rPr>
              <a:t>ipsum</a:t>
            </a:r>
            <a:endParaRPr lang="es-CL" dirty="0">
              <a:solidFill>
                <a:srgbClr val="0A1322"/>
              </a:solidFill>
            </a:endParaRPr>
          </a:p>
        </p:txBody>
      </p:sp>
      <p:sp>
        <p:nvSpPr>
          <p:cNvPr id="285" name="Google Shape;285;p29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cxnSp>
        <p:nvCxnSpPr>
          <p:cNvPr id="286" name="Google Shape;286;p29"/>
          <p:cNvCxnSpPr/>
          <p:nvPr/>
        </p:nvCxnSpPr>
        <p:spPr>
          <a:xfrm>
            <a:off x="5100100" y="1300813"/>
            <a:ext cx="403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9"/>
          <p:cNvCxnSpPr/>
          <p:nvPr/>
        </p:nvCxnSpPr>
        <p:spPr>
          <a:xfrm>
            <a:off x="5100100" y="2008350"/>
            <a:ext cx="403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29"/>
          <p:cNvCxnSpPr/>
          <p:nvPr/>
        </p:nvCxnSpPr>
        <p:spPr>
          <a:xfrm>
            <a:off x="5100100" y="2715888"/>
            <a:ext cx="403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9"/>
          <p:cNvCxnSpPr/>
          <p:nvPr/>
        </p:nvCxnSpPr>
        <p:spPr>
          <a:xfrm>
            <a:off x="5100100" y="3423425"/>
            <a:ext cx="403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29"/>
          <p:cNvCxnSpPr/>
          <p:nvPr/>
        </p:nvCxnSpPr>
        <p:spPr>
          <a:xfrm>
            <a:off x="5100100" y="4130963"/>
            <a:ext cx="403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2134225" y="1759600"/>
            <a:ext cx="6369300" cy="7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Introducción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23" name="Google Shape;323;p31"/>
          <p:cNvSpPr txBox="1">
            <a:spLocks noGrp="1"/>
          </p:cNvSpPr>
          <p:nvPr>
            <p:ph type="title" idx="2"/>
          </p:nvPr>
        </p:nvSpPr>
        <p:spPr>
          <a:xfrm>
            <a:off x="640475" y="1699750"/>
            <a:ext cx="949800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97917"/>
                </a:solidFill>
              </a:rPr>
              <a:t>01</a:t>
            </a:r>
            <a:endParaRPr dirty="0">
              <a:solidFill>
                <a:srgbClr val="E97917"/>
              </a:solidFill>
            </a:endParaRPr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sp>
        <p:nvSpPr>
          <p:cNvPr id="325" name="Google Shape;325;p31"/>
          <p:cNvSpPr/>
          <p:nvPr/>
        </p:nvSpPr>
        <p:spPr>
          <a:xfrm>
            <a:off x="-8467" y="4764750"/>
            <a:ext cx="8486100" cy="393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67000">
                <a:srgbClr val="253F68"/>
              </a:gs>
              <a:gs pos="100000">
                <a:srgbClr val="1A2D4E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>
            <a:spLocks noGrp="1"/>
          </p:cNvSpPr>
          <p:nvPr>
            <p:ph type="title"/>
          </p:nvPr>
        </p:nvSpPr>
        <p:spPr>
          <a:xfrm>
            <a:off x="720000" y="820525"/>
            <a:ext cx="4540200" cy="10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A1322"/>
                </a:solidFill>
              </a:rPr>
              <a:t>Contexto</a:t>
            </a:r>
            <a:endParaRPr dirty="0">
              <a:solidFill>
                <a:srgbClr val="0A1322"/>
              </a:solidFill>
            </a:endParaRPr>
          </a:p>
        </p:txBody>
      </p:sp>
      <p:sp>
        <p:nvSpPr>
          <p:cNvPr id="360" name="Google Shape;360;p32"/>
          <p:cNvSpPr txBox="1">
            <a:spLocks noGrp="1"/>
          </p:cNvSpPr>
          <p:nvPr>
            <p:ph type="subTitle" idx="1"/>
          </p:nvPr>
        </p:nvSpPr>
        <p:spPr>
          <a:xfrm>
            <a:off x="371650" y="1531619"/>
            <a:ext cx="4888550" cy="3611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200"/>
            </a:pPr>
            <a:r>
              <a:rPr lang="es-ES" dirty="0"/>
              <a:t>Problema clínico. La neumonía es una causa relevante de morbilidad y mortalidad, con especial impacto en niños, adultos mayores y poblaciones con comorbilidades. En zonas altoandinas el diagnóstico puede ser lento por falta de especialistas y equipos avanzados.</a:t>
            </a:r>
          </a:p>
          <a:p>
            <a:pPr>
              <a:buSzPts val="1200"/>
            </a:pPr>
            <a:r>
              <a:rPr lang="es-ES" dirty="0"/>
              <a:t>Imágenes de RX. La radiografía de tórax es accesible y de bajo costo, pero su interpretación es subjetiva, dependiente del radiólogo y de la calidad de imagen.</a:t>
            </a:r>
          </a:p>
          <a:p>
            <a:pPr>
              <a:buSzPts val="1200"/>
            </a:pPr>
            <a:r>
              <a:rPr lang="es-ES" dirty="0"/>
              <a:t>Oportunidad con IA. El aprendizaje profundo (CNN/</a:t>
            </a:r>
            <a:r>
              <a:rPr lang="es-ES" dirty="0" err="1"/>
              <a:t>ViT</a:t>
            </a:r>
            <a:r>
              <a:rPr lang="es-ES" dirty="0"/>
              <a:t>) ha demostrado alto rendimiento en análisis de imágenes médicas, con potencial para apoyar el tamizaje y priorización de casos en contextos con recursos limitados.</a:t>
            </a:r>
          </a:p>
          <a:p>
            <a:pPr>
              <a:buSzPts val="1200"/>
            </a:pPr>
            <a:r>
              <a:rPr lang="es-ES" dirty="0"/>
              <a:t>Contribución: proponer y evaluar un pipeline robusto con DenseNet121 y validación cruzada estratificada, orientado a un uso clínicamente plausible en escenarios de escasez de especialistas.</a:t>
            </a:r>
            <a:endParaRPr lang="es-ES" dirty="0">
              <a:solidFill>
                <a:srgbClr val="0A1322"/>
              </a:solidFill>
            </a:endParaRPr>
          </a:p>
        </p:txBody>
      </p:sp>
      <p:sp>
        <p:nvSpPr>
          <p:cNvPr id="362" name="Google Shape;362;p32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BAEE7C37-E50E-4D20-A226-F16E20BF64A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2801" r="22801"/>
          <a:stretch>
            <a:fillRect/>
          </a:stretch>
        </p:blipFill>
        <p:spPr/>
      </p:pic>
      <p:sp>
        <p:nvSpPr>
          <p:cNvPr id="4" name="Google Shape;271;p29">
            <a:extLst>
              <a:ext uri="{FF2B5EF4-FFF2-40B4-BE49-F238E27FC236}">
                <a16:creationId xmlns:a16="http://schemas.microsoft.com/office/drawing/2014/main" id="{D4AA8FE5-1680-1BD7-EC23-3E8011993885}"/>
              </a:ext>
            </a:extLst>
          </p:cNvPr>
          <p:cNvSpPr/>
          <p:nvPr/>
        </p:nvSpPr>
        <p:spPr>
          <a:xfrm flipH="1">
            <a:off x="-51750" y="-8542"/>
            <a:ext cx="302369" cy="5233323"/>
          </a:xfrm>
          <a:prstGeom prst="rect">
            <a:avLst/>
          </a:prstGeom>
          <a:gradFill>
            <a:gsLst>
              <a:gs pos="0">
                <a:srgbClr val="253F68"/>
              </a:gs>
              <a:gs pos="100000">
                <a:srgbClr val="1A2D4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C97D359-E3FB-2628-20AD-20EAEDDC3F02}"/>
              </a:ext>
            </a:extLst>
          </p:cNvPr>
          <p:cNvSpPr/>
          <p:nvPr/>
        </p:nvSpPr>
        <p:spPr>
          <a:xfrm flipV="1">
            <a:off x="850435" y="1423159"/>
            <a:ext cx="546565" cy="45719"/>
          </a:xfrm>
          <a:prstGeom prst="roundRect">
            <a:avLst>
              <a:gd name="adj" fmla="val 50000"/>
            </a:avLst>
          </a:prstGeom>
          <a:solidFill>
            <a:srgbClr val="E9791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A1322"/>
                </a:solidFill>
              </a:rPr>
              <a:t>Objetivo</a:t>
            </a:r>
            <a:endParaRPr dirty="0">
              <a:solidFill>
                <a:srgbClr val="0A1322"/>
              </a:solidFill>
            </a:endParaRPr>
          </a:p>
        </p:txBody>
      </p:sp>
      <p:sp>
        <p:nvSpPr>
          <p:cNvPr id="360" name="Google Shape;360;p32"/>
          <p:cNvSpPr txBox="1">
            <a:spLocks noGrp="1"/>
          </p:cNvSpPr>
          <p:nvPr>
            <p:ph type="subTitle" idx="1"/>
          </p:nvPr>
        </p:nvSpPr>
        <p:spPr>
          <a:xfrm>
            <a:off x="713225" y="1790974"/>
            <a:ext cx="5875834" cy="2700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200"/>
            </a:pPr>
            <a:r>
              <a:rPr lang="es-ES" dirty="0"/>
              <a:t>Diseñar un pipeline de preprocesamiento y aumento de datos (rotación, traslación, zoom, volteo) para robustecer la generalización.</a:t>
            </a:r>
          </a:p>
          <a:p>
            <a:pPr>
              <a:buSzPts val="1200"/>
            </a:pPr>
            <a:r>
              <a:rPr lang="es-ES" dirty="0"/>
              <a:t>Implementar balanceo de clases mediante </a:t>
            </a:r>
            <a:r>
              <a:rPr lang="es-ES" dirty="0" err="1"/>
              <a:t>oversampling</a:t>
            </a:r>
            <a:r>
              <a:rPr lang="es-ES" dirty="0"/>
              <a:t> de la clase minoritaria dentro de cada </a:t>
            </a:r>
            <a:r>
              <a:rPr lang="es-ES" dirty="0" err="1"/>
              <a:t>fold</a:t>
            </a:r>
            <a:r>
              <a:rPr lang="es-ES" dirty="0"/>
              <a:t>.</a:t>
            </a:r>
          </a:p>
          <a:p>
            <a:pPr>
              <a:buSzPts val="1200"/>
            </a:pPr>
            <a:r>
              <a:rPr lang="es-ES" dirty="0"/>
              <a:t>Ajustar DenseNet121 con fine-</a:t>
            </a:r>
            <a:r>
              <a:rPr lang="es-ES" dirty="0" err="1"/>
              <a:t>tuning</a:t>
            </a:r>
            <a:r>
              <a:rPr lang="es-ES" dirty="0"/>
              <a:t> parcial (capas iniciales congeladas, cabeza densa regularizada).</a:t>
            </a:r>
          </a:p>
          <a:p>
            <a:pPr>
              <a:buSzPts val="1200"/>
            </a:pPr>
            <a:r>
              <a:rPr lang="es-ES" dirty="0"/>
              <a:t>Evaluar con validación cruzada estratificada (k=5) y métricas: </a:t>
            </a:r>
            <a:r>
              <a:rPr lang="es-ES" dirty="0" err="1"/>
              <a:t>Accuracy</a:t>
            </a:r>
            <a:r>
              <a:rPr lang="es-ES" dirty="0"/>
              <a:t>, </a:t>
            </a:r>
            <a:r>
              <a:rPr lang="es-ES" dirty="0" err="1"/>
              <a:t>Precision</a:t>
            </a:r>
            <a:r>
              <a:rPr lang="es-ES" dirty="0"/>
              <a:t>, </a:t>
            </a:r>
            <a:r>
              <a:rPr lang="es-ES" dirty="0" err="1"/>
              <a:t>Recall</a:t>
            </a:r>
            <a:r>
              <a:rPr lang="es-ES" dirty="0"/>
              <a:t>, F1 y AUC-ROC.</a:t>
            </a:r>
          </a:p>
          <a:p>
            <a:pPr>
              <a:buSzPts val="1200"/>
            </a:pPr>
            <a:r>
              <a:rPr lang="es-ES" dirty="0"/>
              <a:t>Analizar errores (matrices de confusión) y sesgos (falsos positivos/negativos) para inferir implicancias clínicas.</a:t>
            </a:r>
            <a:endParaRPr lang="es-ES" dirty="0">
              <a:solidFill>
                <a:srgbClr val="0A1322"/>
              </a:solidFill>
            </a:endParaRPr>
          </a:p>
        </p:txBody>
      </p:sp>
      <p:sp>
        <p:nvSpPr>
          <p:cNvPr id="362" name="Google Shape;362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C97D359-E3FB-2628-20AD-20EAEDDC3F02}"/>
              </a:ext>
            </a:extLst>
          </p:cNvPr>
          <p:cNvSpPr/>
          <p:nvPr/>
        </p:nvSpPr>
        <p:spPr>
          <a:xfrm flipV="1">
            <a:off x="384749" y="651934"/>
            <a:ext cx="546565" cy="71878"/>
          </a:xfrm>
          <a:prstGeom prst="roundRect">
            <a:avLst>
              <a:gd name="adj" fmla="val 50000"/>
            </a:avLst>
          </a:prstGeom>
          <a:solidFill>
            <a:srgbClr val="E9791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8953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EC151-BC43-49C4-A8F1-51FF071D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Antecedentes y Brecha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C1A343-4001-4E42-9086-2AEB7E7A0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</a:t>
            </a:fld>
            <a:endParaRPr lang="es-CL"/>
          </a:p>
        </p:txBody>
      </p:sp>
      <p:sp>
        <p:nvSpPr>
          <p:cNvPr id="5" name="Google Shape;360;p32">
            <a:extLst>
              <a:ext uri="{FF2B5EF4-FFF2-40B4-BE49-F238E27FC236}">
                <a16:creationId xmlns:a16="http://schemas.microsoft.com/office/drawing/2014/main" id="{10874768-708F-4976-AF03-3E383A59FB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2788" y="1790700"/>
            <a:ext cx="6450012" cy="3070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SzPts val="1200"/>
              <a:buNone/>
            </a:pPr>
            <a:r>
              <a:rPr lang="es-ES" sz="1400" dirty="0" err="1"/>
              <a:t>CNNs</a:t>
            </a:r>
            <a:r>
              <a:rPr lang="es-ES" sz="1400" dirty="0"/>
              <a:t> en RX torácica. </a:t>
            </a:r>
            <a:r>
              <a:rPr lang="es-ES" sz="1400" dirty="0" err="1"/>
              <a:t>CheXNet</a:t>
            </a:r>
            <a:r>
              <a:rPr lang="es-ES" sz="1400" dirty="0"/>
              <a:t> y derivados mostraron desempeños comparables a radiólogos en tareas específicas. Avances recientes incorporan mecanismos de atención (CBAM, SE) y Transformers (</a:t>
            </a:r>
            <a:r>
              <a:rPr lang="es-ES" sz="1400" dirty="0" err="1"/>
              <a:t>ViT</a:t>
            </a:r>
            <a:r>
              <a:rPr lang="es-ES" sz="1400" dirty="0"/>
              <a:t>) e híbridos </a:t>
            </a:r>
            <a:r>
              <a:rPr lang="es-ES" sz="1400" dirty="0" err="1"/>
              <a:t>CNN+ViT</a:t>
            </a:r>
            <a:r>
              <a:rPr lang="es-ES" sz="1400" dirty="0"/>
              <a:t>.</a:t>
            </a:r>
          </a:p>
          <a:p>
            <a:pPr marL="152400" indent="0">
              <a:buSzPts val="1200"/>
              <a:buNone/>
            </a:pPr>
            <a:endParaRPr lang="es-ES" sz="1400" dirty="0"/>
          </a:p>
          <a:p>
            <a:pPr marL="152400" indent="0">
              <a:buSzPts val="1200"/>
              <a:buNone/>
            </a:pPr>
            <a:r>
              <a:rPr lang="es-ES" sz="1400" dirty="0"/>
              <a:t>Limitaciones recurrentes:</a:t>
            </a:r>
          </a:p>
          <a:p>
            <a:r>
              <a:rPr lang="es-ES" sz="1400" dirty="0"/>
              <a:t>Validaciones no estratificadas o con </a:t>
            </a:r>
            <a:r>
              <a:rPr lang="es-ES" sz="1400" dirty="0" err="1"/>
              <a:t>leakage</a:t>
            </a:r>
            <a:r>
              <a:rPr lang="es-ES" sz="1400" dirty="0"/>
              <a:t> entre </a:t>
            </a:r>
            <a:r>
              <a:rPr lang="es-ES" sz="1400" dirty="0" err="1"/>
              <a:t>train</a:t>
            </a:r>
            <a:r>
              <a:rPr lang="es-ES" sz="1400" dirty="0"/>
              <a:t>/test. </a:t>
            </a:r>
          </a:p>
          <a:p>
            <a:r>
              <a:rPr lang="es-ES" sz="1400" dirty="0"/>
              <a:t>Desbalance de clases no corregido, sobreestimando </a:t>
            </a:r>
            <a:r>
              <a:rPr lang="es-ES" sz="1400" dirty="0" err="1"/>
              <a:t>accuracy</a:t>
            </a:r>
            <a:r>
              <a:rPr lang="es-ES" sz="1400" dirty="0"/>
              <a:t>.</a:t>
            </a:r>
          </a:p>
          <a:p>
            <a:pPr marL="152400" indent="0">
              <a:buSzPts val="1200"/>
              <a:buNone/>
            </a:pPr>
            <a:endParaRPr lang="es-ES" sz="1400" dirty="0"/>
          </a:p>
          <a:p>
            <a:pPr marL="152400" indent="0">
              <a:buSzPts val="1200"/>
              <a:buNone/>
            </a:pPr>
            <a:r>
              <a:rPr lang="es-ES" sz="1400" dirty="0"/>
              <a:t>Falta de validación multicéntrica y de interpretabilidad. </a:t>
            </a:r>
          </a:p>
          <a:p>
            <a:pPr marL="152400" indent="0">
              <a:buSzPts val="1200"/>
              <a:buNone/>
            </a:pPr>
            <a:r>
              <a:rPr lang="es-ES" sz="1400" dirty="0"/>
              <a:t>Brecha que abordamos: protocolo rigurosamente estratificado, balanceo dentro de cada </a:t>
            </a:r>
            <a:r>
              <a:rPr lang="es-ES" sz="1400" dirty="0" err="1"/>
              <a:t>fold</a:t>
            </a:r>
            <a:r>
              <a:rPr lang="es-ES" sz="1400" dirty="0"/>
              <a:t>, regularización explícita y reporte detallado por clase y por pliegue.</a:t>
            </a:r>
            <a:endParaRPr lang="es-ES" sz="1400" dirty="0">
              <a:solidFill>
                <a:srgbClr val="0A13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84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2134225" y="1759600"/>
            <a:ext cx="6369300" cy="7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Metodología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23" name="Google Shape;323;p31"/>
          <p:cNvSpPr txBox="1">
            <a:spLocks noGrp="1"/>
          </p:cNvSpPr>
          <p:nvPr>
            <p:ph type="title" idx="2"/>
          </p:nvPr>
        </p:nvSpPr>
        <p:spPr>
          <a:xfrm>
            <a:off x="640475" y="1699750"/>
            <a:ext cx="949800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97917"/>
                </a:solidFill>
              </a:rPr>
              <a:t>02</a:t>
            </a:r>
            <a:endParaRPr dirty="0">
              <a:solidFill>
                <a:srgbClr val="E97917"/>
              </a:solidFill>
            </a:endParaRPr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sp>
        <p:nvSpPr>
          <p:cNvPr id="325" name="Google Shape;325;p31"/>
          <p:cNvSpPr/>
          <p:nvPr/>
        </p:nvSpPr>
        <p:spPr>
          <a:xfrm>
            <a:off x="-8467" y="4764750"/>
            <a:ext cx="8486100" cy="393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67000">
                <a:srgbClr val="253F68"/>
              </a:gs>
              <a:gs pos="100000">
                <a:srgbClr val="1A2D4E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0718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>
            <a:spLocks noGrp="1"/>
          </p:cNvSpPr>
          <p:nvPr>
            <p:ph type="title"/>
          </p:nvPr>
        </p:nvSpPr>
        <p:spPr>
          <a:xfrm>
            <a:off x="720000" y="820525"/>
            <a:ext cx="4540200" cy="10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Antecedentes y Brecha</a:t>
            </a:r>
            <a:endParaRPr dirty="0">
              <a:solidFill>
                <a:srgbClr val="0A1322"/>
              </a:solidFill>
            </a:endParaRPr>
          </a:p>
        </p:txBody>
      </p:sp>
      <p:sp>
        <p:nvSpPr>
          <p:cNvPr id="4" name="Google Shape;271;p29">
            <a:extLst>
              <a:ext uri="{FF2B5EF4-FFF2-40B4-BE49-F238E27FC236}">
                <a16:creationId xmlns:a16="http://schemas.microsoft.com/office/drawing/2014/main" id="{D4AA8FE5-1680-1BD7-EC23-3E8011993885}"/>
              </a:ext>
            </a:extLst>
          </p:cNvPr>
          <p:cNvSpPr/>
          <p:nvPr/>
        </p:nvSpPr>
        <p:spPr>
          <a:xfrm flipH="1">
            <a:off x="-51750" y="-8542"/>
            <a:ext cx="302369" cy="5233323"/>
          </a:xfrm>
          <a:prstGeom prst="rect">
            <a:avLst/>
          </a:prstGeom>
          <a:gradFill>
            <a:gsLst>
              <a:gs pos="0">
                <a:srgbClr val="253F68"/>
              </a:gs>
              <a:gs pos="100000">
                <a:srgbClr val="1A2D4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C97D359-E3FB-2628-20AD-20EAEDDC3F02}"/>
              </a:ext>
            </a:extLst>
          </p:cNvPr>
          <p:cNvSpPr/>
          <p:nvPr/>
        </p:nvSpPr>
        <p:spPr>
          <a:xfrm flipV="1">
            <a:off x="850435" y="1423159"/>
            <a:ext cx="546565" cy="45719"/>
          </a:xfrm>
          <a:prstGeom prst="roundRect">
            <a:avLst>
              <a:gd name="adj" fmla="val 50000"/>
            </a:avLst>
          </a:prstGeom>
          <a:solidFill>
            <a:srgbClr val="E9791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B7BEDA-EC76-478B-BD87-CFBCA5776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650" y="2004790"/>
            <a:ext cx="4619100" cy="2544350"/>
          </a:xfrm>
        </p:spPr>
        <p:txBody>
          <a:bodyPr/>
          <a:lstStyle/>
          <a:p>
            <a:r>
              <a:rPr lang="es-PE" dirty="0"/>
              <a:t>Base: </a:t>
            </a:r>
            <a:r>
              <a:rPr lang="es-PE" dirty="0" err="1"/>
              <a:t>Chest</a:t>
            </a:r>
            <a:r>
              <a:rPr lang="es-PE" dirty="0"/>
              <a:t> X-</a:t>
            </a:r>
            <a:r>
              <a:rPr lang="es-PE" dirty="0" err="1"/>
              <a:t>ray</a:t>
            </a:r>
            <a:r>
              <a:rPr lang="es-PE" dirty="0"/>
              <a:t> </a:t>
            </a:r>
            <a:r>
              <a:rPr lang="es-PE" dirty="0" err="1"/>
              <a:t>Images</a:t>
            </a:r>
            <a:r>
              <a:rPr lang="es-PE" dirty="0"/>
              <a:t> (</a:t>
            </a:r>
            <a:r>
              <a:rPr lang="es-PE" dirty="0" err="1"/>
              <a:t>Pneumonia</a:t>
            </a:r>
            <a:r>
              <a:rPr lang="es-PE" dirty="0"/>
              <a:t>) (</a:t>
            </a:r>
            <a:r>
              <a:rPr lang="es-PE" dirty="0" err="1"/>
              <a:t>Kaggle</a:t>
            </a:r>
            <a:r>
              <a:rPr lang="es-PE" dirty="0"/>
              <a:t>), 5863 imágenes RX, binarias: NORMAL vs PNEUMONIA. </a:t>
            </a:r>
          </a:p>
          <a:p>
            <a:endParaRPr lang="es-PE" dirty="0"/>
          </a:p>
          <a:p>
            <a:r>
              <a:rPr lang="es-PE" dirty="0"/>
              <a:t>Particionado: Se empleó únicamente el </a:t>
            </a:r>
            <a:r>
              <a:rPr lang="es-PE" dirty="0" err="1"/>
              <a:t>split</a:t>
            </a:r>
            <a:r>
              <a:rPr lang="es-PE" dirty="0"/>
              <a:t> </a:t>
            </a:r>
            <a:r>
              <a:rPr lang="es-PE" dirty="0" err="1"/>
              <a:t>train</a:t>
            </a:r>
            <a:r>
              <a:rPr lang="es-PE" dirty="0"/>
              <a:t> para ejecutar k-</a:t>
            </a:r>
            <a:r>
              <a:rPr lang="es-PE" dirty="0" err="1"/>
              <a:t>fold</a:t>
            </a:r>
            <a:r>
              <a:rPr lang="es-PE" dirty="0"/>
              <a:t> estratificado (k=5), evitando fuga de información del test original.</a:t>
            </a:r>
          </a:p>
          <a:p>
            <a:endParaRPr lang="es-PE" dirty="0"/>
          </a:p>
          <a:p>
            <a:r>
              <a:rPr lang="es-PE" dirty="0"/>
              <a:t>Resolución y canales: Imágenes en escala de grises → redimensionadas a 224 × 224 y replicadas a 3 canales (compatibilidad con modelos </a:t>
            </a:r>
            <a:r>
              <a:rPr lang="es-PE" dirty="0" err="1"/>
              <a:t>preentrenados</a:t>
            </a:r>
            <a:r>
              <a:rPr lang="es-PE" dirty="0"/>
              <a:t> en </a:t>
            </a:r>
            <a:r>
              <a:rPr lang="es-PE" dirty="0" err="1"/>
              <a:t>ImageNet</a:t>
            </a:r>
            <a:r>
              <a:rPr lang="es-PE" dirty="0"/>
              <a:t>). </a:t>
            </a:r>
          </a:p>
        </p:txBody>
      </p:sp>
      <p:pic>
        <p:nvPicPr>
          <p:cNvPr id="14" name="Marcador de posición de imagen 13">
            <a:extLst>
              <a:ext uri="{FF2B5EF4-FFF2-40B4-BE49-F238E27FC236}">
                <a16:creationId xmlns:a16="http://schemas.microsoft.com/office/drawing/2014/main" id="{E7423CFA-E8AE-4348-BED7-CE35EDE9D5F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578" b="1578"/>
          <a:stretch>
            <a:fillRect/>
          </a:stretch>
        </p:blipFill>
        <p:spPr>
          <a:xfrm>
            <a:off x="6046379" y="29126"/>
            <a:ext cx="3097621" cy="5114373"/>
          </a:xfrm>
          <a:prstGeom prst="rect">
            <a:avLst/>
          </a:prstGeom>
        </p:spPr>
      </p:pic>
      <p:sp>
        <p:nvSpPr>
          <p:cNvPr id="362" name="Google Shape;362;p32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bg1"/>
                </a:solidFill>
              </a:rPr>
              <a:t>8</a:t>
            </a:fld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019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EC151-BC43-49C4-A8F1-51FF071D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Arquitectura y Fine-</a:t>
            </a:r>
            <a:r>
              <a:rPr lang="es-PE" dirty="0" err="1"/>
              <a:t>Tuning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C1A343-4001-4E42-9086-2AEB7E7A0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9</a:t>
            </a:fld>
            <a:endParaRPr lang="es-CL"/>
          </a:p>
        </p:txBody>
      </p:sp>
      <p:sp>
        <p:nvSpPr>
          <p:cNvPr id="5" name="Google Shape;360;p32">
            <a:extLst>
              <a:ext uri="{FF2B5EF4-FFF2-40B4-BE49-F238E27FC236}">
                <a16:creationId xmlns:a16="http://schemas.microsoft.com/office/drawing/2014/main" id="{10874768-708F-4976-AF03-3E383A59FB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2788" y="1790700"/>
            <a:ext cx="7843996" cy="3070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SzPts val="1200"/>
              <a:buNone/>
            </a:pPr>
            <a:r>
              <a:rPr lang="es-PE" sz="1400" dirty="0" err="1"/>
              <a:t>Backbone</a:t>
            </a:r>
            <a:r>
              <a:rPr lang="es-PE" sz="1400" dirty="0"/>
              <a:t>: DenseNet121 </a:t>
            </a:r>
            <a:r>
              <a:rPr lang="es-PE" sz="1400" dirty="0" err="1"/>
              <a:t>preentrenada</a:t>
            </a:r>
            <a:r>
              <a:rPr lang="es-PE" sz="1400" dirty="0"/>
              <a:t> en </a:t>
            </a:r>
            <a:r>
              <a:rPr lang="es-PE" sz="1400" dirty="0" err="1"/>
              <a:t>ImageNet</a:t>
            </a:r>
            <a:r>
              <a:rPr lang="es-PE" sz="1400" dirty="0"/>
              <a:t> (eficiencia paramétrica, buena propagación de características).</a:t>
            </a:r>
          </a:p>
          <a:p>
            <a:pPr marL="152400" indent="0">
              <a:buSzPts val="1200"/>
              <a:buNone/>
            </a:pPr>
            <a:endParaRPr lang="es-PE" sz="1400" dirty="0"/>
          </a:p>
          <a:p>
            <a:pPr marL="152400" indent="0">
              <a:buSzPts val="1200"/>
              <a:buNone/>
            </a:pPr>
            <a:r>
              <a:rPr lang="es-PE" sz="1400" dirty="0"/>
              <a:t>Estrategia: fine-</a:t>
            </a:r>
            <a:r>
              <a:rPr lang="es-PE" sz="1400" dirty="0" err="1"/>
              <a:t>tuning</a:t>
            </a:r>
            <a:r>
              <a:rPr lang="es-PE" sz="1400" dirty="0"/>
              <a:t> parcial conservando ∼100 primeras capas congeladas para retener patrones genéricos y adaptar capas superiores al dominio RX.</a:t>
            </a:r>
          </a:p>
          <a:p>
            <a:pPr marL="152400" indent="0">
              <a:buSzPts val="1200"/>
              <a:buNone/>
            </a:pPr>
            <a:endParaRPr lang="es-PE" sz="1400" dirty="0"/>
          </a:p>
          <a:p>
            <a:pPr marL="152400" indent="0">
              <a:buSzPts val="1200"/>
              <a:buNone/>
            </a:pPr>
            <a:r>
              <a:rPr lang="es-PE" sz="1400" dirty="0"/>
              <a:t>Cabeza de clasificación:</a:t>
            </a:r>
          </a:p>
          <a:p>
            <a:pPr>
              <a:buSzPts val="1200"/>
            </a:pPr>
            <a:r>
              <a:rPr lang="es-PE" sz="1400" dirty="0"/>
              <a:t>Global </a:t>
            </a:r>
            <a:r>
              <a:rPr lang="es-PE" sz="1400" dirty="0" err="1"/>
              <a:t>Average</a:t>
            </a:r>
            <a:r>
              <a:rPr lang="es-PE" sz="1400" dirty="0"/>
              <a:t> </a:t>
            </a:r>
            <a:r>
              <a:rPr lang="es-PE" sz="1400" dirty="0" err="1"/>
              <a:t>Pooling</a:t>
            </a:r>
            <a:r>
              <a:rPr lang="es-PE" sz="1400" dirty="0"/>
              <a:t> → </a:t>
            </a:r>
            <a:r>
              <a:rPr lang="es-PE" sz="1400" dirty="0" err="1"/>
              <a:t>Dropout</a:t>
            </a:r>
            <a:r>
              <a:rPr lang="es-PE" sz="1400" dirty="0"/>
              <a:t> (0,3) → Dense(128, </a:t>
            </a:r>
            <a:r>
              <a:rPr lang="es-PE" sz="1400" dirty="0" err="1"/>
              <a:t>ReLU</a:t>
            </a:r>
            <a:r>
              <a:rPr lang="es-PE" sz="1400" dirty="0"/>
              <a:t>) → </a:t>
            </a:r>
            <a:r>
              <a:rPr lang="es-PE" sz="1400" dirty="0" err="1"/>
              <a:t>Dropout</a:t>
            </a:r>
            <a:r>
              <a:rPr lang="es-PE" sz="1400" dirty="0"/>
              <a:t>(0,3) → Salida sigmoide.</a:t>
            </a:r>
          </a:p>
          <a:p>
            <a:pPr marL="152400" indent="0">
              <a:buSzPts val="1200"/>
              <a:buNone/>
            </a:pPr>
            <a:endParaRPr lang="es-PE" sz="1400" dirty="0"/>
          </a:p>
          <a:p>
            <a:pPr marL="152400" indent="0">
              <a:buSzPts val="1200"/>
              <a:buNone/>
            </a:pPr>
            <a:r>
              <a:rPr lang="es-PE" sz="1400" dirty="0"/>
              <a:t>Justificación: control de sobreajuste con </a:t>
            </a:r>
            <a:r>
              <a:rPr lang="es-PE" sz="1400" dirty="0" err="1"/>
              <a:t>Dropout</a:t>
            </a:r>
            <a:r>
              <a:rPr lang="es-PE" sz="1400" dirty="0"/>
              <a:t>, capacidad representacional intermedia y salida binaria calibrable. </a:t>
            </a:r>
            <a:endParaRPr lang="es-ES" sz="1400" dirty="0">
              <a:solidFill>
                <a:srgbClr val="0A13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810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26043-1002-4A00-9F11-A1C730C8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Optimización y Regularización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92E771-B8CB-4880-A3E0-9F5F1EFDA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4" y="1790974"/>
            <a:ext cx="6571495" cy="2605765"/>
          </a:xfrm>
        </p:spPr>
        <p:txBody>
          <a:bodyPr/>
          <a:lstStyle/>
          <a:p>
            <a:r>
              <a:rPr lang="es-PE" sz="1400" dirty="0"/>
              <a:t>Pérdida/Optimizador: </a:t>
            </a:r>
            <a:r>
              <a:rPr lang="es-PE" sz="1400" dirty="0" err="1"/>
              <a:t>Binary</a:t>
            </a:r>
            <a:r>
              <a:rPr lang="es-PE" sz="1400" dirty="0"/>
              <a:t> Cross-</a:t>
            </a:r>
            <a:r>
              <a:rPr lang="es-PE" sz="1400" dirty="0" err="1"/>
              <a:t>Entropy</a:t>
            </a:r>
            <a:r>
              <a:rPr lang="es-PE" sz="1400" dirty="0"/>
              <a:t> con Adam (</a:t>
            </a:r>
            <a:r>
              <a:rPr lang="el-GR" sz="1400" dirty="0"/>
              <a:t>η = 10−4 ).</a:t>
            </a:r>
            <a:endParaRPr lang="es-ES" sz="1400" dirty="0"/>
          </a:p>
          <a:p>
            <a:r>
              <a:rPr lang="es-PE" sz="1400" dirty="0"/>
              <a:t>Regularización dinámica:</a:t>
            </a:r>
          </a:p>
          <a:p>
            <a:pPr lvl="1" algn="l"/>
            <a:r>
              <a:rPr lang="es-PE" sz="1400" dirty="0" err="1"/>
              <a:t>EarlyStopping</a:t>
            </a:r>
            <a:r>
              <a:rPr lang="es-PE" sz="1400" dirty="0"/>
              <a:t> (paciencia = 3) sobre </a:t>
            </a:r>
            <a:r>
              <a:rPr lang="es-PE" sz="1400" dirty="0" err="1"/>
              <a:t>val_loss</a:t>
            </a:r>
            <a:r>
              <a:rPr lang="es-PE" sz="1400" dirty="0"/>
              <a:t>. </a:t>
            </a:r>
          </a:p>
          <a:p>
            <a:pPr lvl="1" algn="l"/>
            <a:r>
              <a:rPr lang="es-PE" sz="1400" dirty="0" err="1"/>
              <a:t>ReduceLROnPlateau</a:t>
            </a:r>
            <a:r>
              <a:rPr lang="es-PE" sz="1400" dirty="0"/>
              <a:t> (factor 0,7; paciencia = 2) para ajuste fino final.</a:t>
            </a:r>
          </a:p>
          <a:p>
            <a:r>
              <a:rPr lang="es-PE" sz="1400" dirty="0" err="1"/>
              <a:t>Config</a:t>
            </a:r>
            <a:r>
              <a:rPr lang="es-PE" sz="1400" dirty="0"/>
              <a:t>. de entrenamiento: </a:t>
            </a:r>
            <a:r>
              <a:rPr lang="es-PE" sz="1400" dirty="0" err="1"/>
              <a:t>batch</a:t>
            </a:r>
            <a:r>
              <a:rPr lang="es-PE" sz="1400" dirty="0"/>
              <a:t> = 32, ≤ 20 </a:t>
            </a:r>
            <a:r>
              <a:rPr lang="es-PE" sz="1400" dirty="0" err="1"/>
              <a:t>epochs</a:t>
            </a:r>
            <a:r>
              <a:rPr lang="es-PE" sz="1400" dirty="0"/>
              <a:t>, validación </a:t>
            </a:r>
            <a:r>
              <a:rPr lang="es-PE" sz="1400" dirty="0" err="1"/>
              <a:t>in-fold</a:t>
            </a:r>
            <a:r>
              <a:rPr lang="es-PE" sz="1400" dirty="0"/>
              <a:t>.</a:t>
            </a:r>
          </a:p>
          <a:p>
            <a:r>
              <a:rPr lang="es-PE" sz="1400" dirty="0"/>
              <a:t>Racional: estabilizar convergencia, limitar sobreajuste y facilitar que el </a:t>
            </a:r>
            <a:r>
              <a:rPr lang="es-PE" sz="1400" dirty="0" err="1"/>
              <a:t>backbone</a:t>
            </a:r>
            <a:r>
              <a:rPr lang="es-PE" sz="1400" dirty="0"/>
              <a:t> </a:t>
            </a:r>
            <a:r>
              <a:rPr lang="es-PE" sz="1400" dirty="0" err="1"/>
              <a:t>preentrenado</a:t>
            </a:r>
            <a:r>
              <a:rPr lang="es-PE" sz="1400" dirty="0"/>
              <a:t> se adapte sin degradación.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8544A0-8173-4E91-B55F-DD2AEAD73E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6791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A143A-B346-4D40-AAEB-D73170D98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Esquema de Validación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1791CE-EB8B-4956-98C1-B8DC58D0D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4" y="1790974"/>
            <a:ext cx="6099055" cy="2720065"/>
          </a:xfrm>
        </p:spPr>
        <p:txBody>
          <a:bodyPr/>
          <a:lstStyle/>
          <a:p>
            <a:r>
              <a:rPr lang="es-ES" sz="1400" dirty="0"/>
              <a:t>k-</a:t>
            </a:r>
            <a:r>
              <a:rPr lang="es-ES" sz="1400" dirty="0" err="1"/>
              <a:t>fold</a:t>
            </a:r>
            <a:r>
              <a:rPr lang="es-ES" sz="1400" dirty="0"/>
              <a:t> estratificado (k=5): mantiene la proporción de clases en cada pliegue, proporcionando estimaciones estables y no sesgadas del rendimiento.</a:t>
            </a:r>
          </a:p>
          <a:p>
            <a:r>
              <a:rPr lang="es-ES" sz="1400" dirty="0"/>
              <a:t>Métricas reportadas:</a:t>
            </a:r>
          </a:p>
          <a:p>
            <a:pPr lvl="1" algn="l"/>
            <a:r>
              <a:rPr lang="es-ES" sz="1400" dirty="0"/>
              <a:t>AUC-ROC (métrica principal; independiente de umbral).</a:t>
            </a:r>
          </a:p>
          <a:p>
            <a:pPr lvl="1" algn="l"/>
            <a:r>
              <a:rPr lang="es-ES" sz="1400" dirty="0" err="1"/>
              <a:t>Accuracy</a:t>
            </a:r>
            <a:r>
              <a:rPr lang="es-ES" sz="1400" dirty="0"/>
              <a:t>, </a:t>
            </a:r>
            <a:r>
              <a:rPr lang="es-ES" sz="1400" dirty="0" err="1"/>
              <a:t>Precision</a:t>
            </a:r>
            <a:r>
              <a:rPr lang="es-ES" sz="1400" dirty="0"/>
              <a:t>, </a:t>
            </a:r>
            <a:r>
              <a:rPr lang="es-ES" sz="1400" dirty="0" err="1"/>
              <a:t>Recall</a:t>
            </a:r>
            <a:r>
              <a:rPr lang="es-ES" sz="1400" dirty="0"/>
              <a:t>, F1 por clase. </a:t>
            </a:r>
          </a:p>
          <a:p>
            <a:pPr lvl="1" algn="l"/>
            <a:r>
              <a:rPr lang="es-ES" sz="1400" dirty="0"/>
              <a:t>Matriz de confusión para patrones de error.</a:t>
            </a:r>
          </a:p>
          <a:p>
            <a:r>
              <a:rPr lang="es-ES" sz="1400" dirty="0"/>
              <a:t>Criterio clínico: priorizar sensibilidad para no omitir neumonías (controlando falsos negativos), aceptando una tasa moderada de falsos positivos. </a:t>
            </a:r>
            <a:endParaRPr lang="es-PE" sz="1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49B685-B574-4953-9ED4-402FFBA876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506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2134225" y="1759600"/>
            <a:ext cx="6369300" cy="7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Resultados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23" name="Google Shape;323;p31"/>
          <p:cNvSpPr txBox="1">
            <a:spLocks noGrp="1"/>
          </p:cNvSpPr>
          <p:nvPr>
            <p:ph type="title" idx="2"/>
          </p:nvPr>
        </p:nvSpPr>
        <p:spPr>
          <a:xfrm>
            <a:off x="640475" y="1699750"/>
            <a:ext cx="949800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97917"/>
                </a:solidFill>
              </a:rPr>
              <a:t>03</a:t>
            </a:r>
            <a:endParaRPr dirty="0">
              <a:solidFill>
                <a:srgbClr val="E97917"/>
              </a:solidFill>
            </a:endParaRPr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sp>
        <p:nvSpPr>
          <p:cNvPr id="325" name="Google Shape;325;p31"/>
          <p:cNvSpPr/>
          <p:nvPr/>
        </p:nvSpPr>
        <p:spPr>
          <a:xfrm>
            <a:off x="-8467" y="4764750"/>
            <a:ext cx="8486100" cy="393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67000">
                <a:srgbClr val="253F68"/>
              </a:gs>
              <a:gs pos="100000">
                <a:srgbClr val="1A2D4E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083265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2081-41DF-4542-A245-27B00935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984" y="932818"/>
            <a:ext cx="4763700" cy="572700"/>
          </a:xfrm>
        </p:spPr>
        <p:txBody>
          <a:bodyPr/>
          <a:lstStyle/>
          <a:p>
            <a:r>
              <a:rPr lang="es-PE" dirty="0"/>
              <a:t>Resultados Globales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97DD20-8321-48CC-8A4B-B1A9C6B83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65" y="1836420"/>
            <a:ext cx="7242055" cy="2613660"/>
          </a:xfrm>
        </p:spPr>
        <p:txBody>
          <a:bodyPr/>
          <a:lstStyle/>
          <a:p>
            <a:pPr marL="152400" indent="0">
              <a:buNone/>
            </a:pPr>
            <a:r>
              <a:rPr lang="es-ES" sz="1400" dirty="0"/>
              <a:t>AUC-ROC promedio: 0,9967 ⇒ discriminación casi perfecta entre NORMAL y PNEUMONIA.</a:t>
            </a:r>
          </a:p>
          <a:p>
            <a:pPr marL="152400" indent="0">
              <a:buNone/>
            </a:pPr>
            <a:endParaRPr lang="es-ES" sz="1400" dirty="0"/>
          </a:p>
          <a:p>
            <a:pPr marL="152400" indent="0">
              <a:buNone/>
            </a:pPr>
            <a:r>
              <a:rPr lang="es-ES" sz="1400" dirty="0"/>
              <a:t>Precisión global: &gt;95 %.</a:t>
            </a:r>
          </a:p>
          <a:p>
            <a:pPr marL="152400" indent="0">
              <a:buNone/>
            </a:pPr>
            <a:endParaRPr lang="es-ES" sz="1400" dirty="0"/>
          </a:p>
          <a:p>
            <a:pPr marL="152400" indent="0">
              <a:buNone/>
            </a:pPr>
            <a:r>
              <a:rPr lang="es-ES" sz="1400" dirty="0"/>
              <a:t>Desempeño por clase:</a:t>
            </a:r>
          </a:p>
          <a:p>
            <a:r>
              <a:rPr lang="es-ES" sz="1400" dirty="0"/>
              <a:t>PNEUMONIA: Precisión 0,999; </a:t>
            </a:r>
            <a:r>
              <a:rPr lang="es-ES" sz="1400" dirty="0" err="1"/>
              <a:t>Recall</a:t>
            </a:r>
            <a:r>
              <a:rPr lang="es-ES" sz="1400" dirty="0"/>
              <a:t> 0,888; F1 0,939.</a:t>
            </a:r>
          </a:p>
          <a:p>
            <a:r>
              <a:rPr lang="es-ES" sz="1400" dirty="0"/>
              <a:t>NORMAL: Precisión 0,761; </a:t>
            </a:r>
            <a:r>
              <a:rPr lang="es-ES" sz="1400" dirty="0" err="1"/>
              <a:t>Recall</a:t>
            </a:r>
            <a:r>
              <a:rPr lang="es-ES" sz="1400" dirty="0"/>
              <a:t> 0,996; F1 0,861.</a:t>
            </a:r>
          </a:p>
          <a:p>
            <a:pPr marL="152400" indent="0">
              <a:buNone/>
            </a:pPr>
            <a:endParaRPr lang="es-ES" sz="1400" dirty="0"/>
          </a:p>
          <a:p>
            <a:pPr marL="152400" indent="0">
              <a:buNone/>
            </a:pPr>
            <a:r>
              <a:rPr lang="es-ES" sz="1400" dirty="0"/>
              <a:t>Patrón de error predominante: falsos positivos (NORMAL → PNEUMONIA), menos críticos que falsos negativos en tamizaje. </a:t>
            </a:r>
            <a:endParaRPr lang="es-PE" sz="1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3F8467-B056-4C96-8C79-2F3CBD64D3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4773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BFE6D9C-2A0B-4F45-B84E-EAA286B65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60" y="114156"/>
            <a:ext cx="7364820" cy="1093500"/>
          </a:xfrm>
        </p:spPr>
        <p:txBody>
          <a:bodyPr/>
          <a:lstStyle/>
          <a:p>
            <a:r>
              <a:rPr lang="es-ES" dirty="0"/>
              <a:t>Desempeño del modelo durante la validación cruzada estratificada (k=5)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DB58A3-8DA7-4662-BEDF-A3C7D4F153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14</a:t>
            </a:fld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8CE68A-145C-40D7-A459-814DD34FF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85041"/>
            <a:ext cx="8382000" cy="3568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7366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A3445-AB8D-4811-AA94-F40D5623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Matrices de Confusión y Hallazgos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F3896E-A088-4471-A6A4-E349D9DDC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50" y="1635720"/>
            <a:ext cx="5054100" cy="1645800"/>
          </a:xfrm>
        </p:spPr>
        <p:txBody>
          <a:bodyPr/>
          <a:lstStyle/>
          <a:p>
            <a:r>
              <a:rPr lang="es-ES" dirty="0"/>
              <a:t>Hallazgos clave: Mayoría de errores ⇒ falsos positivos (NORMAL etiquetado como PNEUMONIA). Falsos negativos considerablemente menos frecuentes, alineado con el objetivo de maximizar sensibilidad. Comportamiento estable entre </a:t>
            </a:r>
            <a:r>
              <a:rPr lang="es-ES" dirty="0" err="1"/>
              <a:t>folds</a:t>
            </a:r>
            <a:r>
              <a:rPr lang="es-ES" dirty="0"/>
              <a:t>, indicando generalización </a:t>
            </a:r>
            <a:r>
              <a:rPr lang="es-ES" dirty="0" err="1"/>
              <a:t>intra-dominio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C76EA2-673E-4F30-8089-7676F80BB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15</a:t>
            </a:fld>
            <a:endParaRPr lang="es-CL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A9941665-1786-4116-A64B-0BA02BD32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70200"/>
              </p:ext>
            </p:extLst>
          </p:nvPr>
        </p:nvGraphicFramePr>
        <p:xfrm>
          <a:off x="90700" y="2658076"/>
          <a:ext cx="3149600" cy="141732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817569749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98505554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15439078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82512891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Fold 1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38945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53635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Clase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Precision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Recall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F1-score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581986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NORMAL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0.8152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u="none" strike="noStrike">
                          <a:effectLst/>
                        </a:rPr>
                        <a:t>10.000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0.8982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33851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PNEUMONIA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u="none" strike="noStrike">
                          <a:effectLst/>
                        </a:rPr>
                        <a:t>10.000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0.9213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0.9590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33786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AUC-ROC: 0.9981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1118730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BB661EBE-E70F-46B4-841A-69A6F685C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930462"/>
              </p:ext>
            </p:extLst>
          </p:nvPr>
        </p:nvGraphicFramePr>
        <p:xfrm>
          <a:off x="5994400" y="755126"/>
          <a:ext cx="3149600" cy="141732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2428085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951382254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4041425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43375475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Fold 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699681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364147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Clase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Precision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Recall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F1-score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1120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NORMAL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0.6372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0.9963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0.7773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14053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PNEUMONIA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0.9984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0.8039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0.8906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63996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AUC-ROC: 0.9962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5393536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C6A919E3-641B-48BD-8FA9-6D78EE1E2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24028"/>
              </p:ext>
            </p:extLst>
          </p:nvPr>
        </p:nvGraphicFramePr>
        <p:xfrm>
          <a:off x="5994400" y="2172446"/>
          <a:ext cx="3149600" cy="141732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964108204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23045317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11542463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246627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Fold 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32533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7042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Clase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Precision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Recall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F1-score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871917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NORMAL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0.7295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0.9963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0.8423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49771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PNEUMONIA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0.9985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0.8723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0.9311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004998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AUC-ROC: 0.9964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7515480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CDAAED24-CFB9-480D-B523-4A9F1E170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448747"/>
              </p:ext>
            </p:extLst>
          </p:nvPr>
        </p:nvGraphicFramePr>
        <p:xfrm>
          <a:off x="5994400" y="3697053"/>
          <a:ext cx="3149600" cy="141732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525645239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27991088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82218044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78138077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Fold 4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71923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08763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Clase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Precision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Recall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F1-score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49468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NORMAL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0.7988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0.9925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0.8852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92101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PNEUMONIA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0.9972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0.9135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0.9535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06646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AUC-ROC: 0.9965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0386129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8C919C31-3D47-47F8-B1DA-E350559EA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793923"/>
              </p:ext>
            </p:extLst>
          </p:nvPr>
        </p:nvGraphicFramePr>
        <p:xfrm>
          <a:off x="2844800" y="3779095"/>
          <a:ext cx="3149600" cy="141732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07878068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00972044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28725534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90610126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Fold 5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661820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702765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Clase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Precision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Recall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F1-score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60008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NORMAL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0.8266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0.9963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0.9036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287412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PNEUMONIA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0.9986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0.9277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0.9619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89929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AUC-ROC: 0.9960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>
                          <a:effectLst/>
                        </a:rPr>
                        <a:t> 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1100" u="none" strike="noStrike" dirty="0">
                          <a:effectLst/>
                        </a:rPr>
                        <a:t> 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1104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65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>
            <a:spLocks noGrp="1"/>
          </p:cNvSpPr>
          <p:nvPr>
            <p:ph type="title"/>
          </p:nvPr>
        </p:nvSpPr>
        <p:spPr>
          <a:xfrm>
            <a:off x="713225" y="732892"/>
            <a:ext cx="7717500" cy="926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A1322"/>
                </a:solidFill>
              </a:rPr>
              <a:t>Resultados por Fold (última época)</a:t>
            </a:r>
            <a:endParaRPr dirty="0">
              <a:solidFill>
                <a:srgbClr val="0A1322"/>
              </a:solidFill>
            </a:endParaRPr>
          </a:p>
        </p:txBody>
      </p:sp>
      <p:sp>
        <p:nvSpPr>
          <p:cNvPr id="362" name="Google Shape;362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C97D359-E3FB-2628-20AD-20EAEDDC3F02}"/>
              </a:ext>
            </a:extLst>
          </p:cNvPr>
          <p:cNvSpPr/>
          <p:nvPr/>
        </p:nvSpPr>
        <p:spPr>
          <a:xfrm flipV="1">
            <a:off x="850434" y="1321560"/>
            <a:ext cx="546565" cy="45719"/>
          </a:xfrm>
          <a:prstGeom prst="roundRect">
            <a:avLst>
              <a:gd name="adj" fmla="val 50000"/>
            </a:avLst>
          </a:prstGeom>
          <a:solidFill>
            <a:srgbClr val="E9791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E2545BCB-0EA5-B115-E9FF-C1841C84D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22857"/>
              </p:ext>
            </p:extLst>
          </p:nvPr>
        </p:nvGraphicFramePr>
        <p:xfrm>
          <a:off x="1523975" y="2123017"/>
          <a:ext cx="609600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1278452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690332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195676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774066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8442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 err="1">
                          <a:solidFill>
                            <a:schemeClr val="accent2"/>
                          </a:solidFill>
                        </a:rPr>
                        <a:t>Fold</a:t>
                      </a:r>
                      <a:endParaRPr lang="es-CL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rgbClr val="1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accent2"/>
                          </a:solidFill>
                        </a:rPr>
                        <a:t>Val </a:t>
                      </a:r>
                      <a:r>
                        <a:rPr lang="es-CL" dirty="0" err="1">
                          <a:solidFill>
                            <a:schemeClr val="accent2"/>
                          </a:solidFill>
                        </a:rPr>
                        <a:t>Acc</a:t>
                      </a:r>
                      <a:endParaRPr lang="es-CL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rgbClr val="1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accent2"/>
                          </a:solidFill>
                        </a:rPr>
                        <a:t>Val </a:t>
                      </a:r>
                      <a:r>
                        <a:rPr lang="es-CL" dirty="0" err="1">
                          <a:solidFill>
                            <a:schemeClr val="accent2"/>
                          </a:solidFill>
                        </a:rPr>
                        <a:t>Loss</a:t>
                      </a:r>
                      <a:endParaRPr lang="es-CL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rgbClr val="1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accent2"/>
                          </a:solidFill>
                        </a:rPr>
                        <a:t>Train </a:t>
                      </a:r>
                      <a:r>
                        <a:rPr lang="es-CL" dirty="0" err="1">
                          <a:solidFill>
                            <a:schemeClr val="accent2"/>
                          </a:solidFill>
                        </a:rPr>
                        <a:t>Acc</a:t>
                      </a:r>
                      <a:endParaRPr lang="es-CL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rgbClr val="1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accent2"/>
                          </a:solidFill>
                        </a:rPr>
                        <a:t>Train </a:t>
                      </a:r>
                      <a:r>
                        <a:rPr lang="es-CL" dirty="0" err="1">
                          <a:solidFill>
                            <a:schemeClr val="accent2"/>
                          </a:solidFill>
                        </a:rPr>
                        <a:t>Loss</a:t>
                      </a:r>
                      <a:endParaRPr lang="es-CL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rgbClr val="1A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0,9310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0,2298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0,9879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0,0295 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1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0,8495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0,5028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0,9785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0,0659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30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0,9060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0,3439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0,9830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0,0503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0,9367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0,2154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0,9783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0,0539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35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0,9338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0,2498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0,9732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0,0647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869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197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1D88BAD-52EB-4AA7-8761-FD736E7A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QR streamlit </a:t>
            </a:r>
            <a:r>
              <a:rPr lang="es-ES" dirty="0" err="1"/>
              <a:t>Grad</a:t>
            </a:r>
            <a:r>
              <a:rPr lang="es-ES" dirty="0"/>
              <a:t>-CAM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712644-96A3-42D2-948A-8AC12D6B3A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17</a:t>
            </a:fld>
            <a:endParaRPr lang="es-CL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11F4F56-1705-4DF8-ADD8-D6FAC4EF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668" y="750093"/>
            <a:ext cx="2907506" cy="290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38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2134225" y="1759600"/>
            <a:ext cx="6369300" cy="7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Conclusiones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23" name="Google Shape;323;p31"/>
          <p:cNvSpPr txBox="1">
            <a:spLocks noGrp="1"/>
          </p:cNvSpPr>
          <p:nvPr>
            <p:ph type="title" idx="2"/>
          </p:nvPr>
        </p:nvSpPr>
        <p:spPr>
          <a:xfrm>
            <a:off x="640475" y="1699750"/>
            <a:ext cx="949800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97917"/>
                </a:solidFill>
              </a:rPr>
              <a:t>04</a:t>
            </a:r>
            <a:endParaRPr dirty="0">
              <a:solidFill>
                <a:srgbClr val="E97917"/>
              </a:solidFill>
            </a:endParaRPr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 dirty="0"/>
          </a:p>
        </p:txBody>
      </p:sp>
      <p:sp>
        <p:nvSpPr>
          <p:cNvPr id="325" name="Google Shape;325;p31"/>
          <p:cNvSpPr/>
          <p:nvPr/>
        </p:nvSpPr>
        <p:spPr>
          <a:xfrm>
            <a:off x="-8467" y="4764750"/>
            <a:ext cx="8486100" cy="393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67000">
                <a:srgbClr val="253F68"/>
              </a:gs>
              <a:gs pos="100000">
                <a:srgbClr val="1A2D4E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887795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C252FC2-3518-4F31-96DD-A5F24C55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/>
              <a:t>Conclusiones</a:t>
            </a:r>
            <a:endParaRPr lang="es-PE" sz="3200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7B735C1-D7A6-4353-98B3-03DD6B59C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5" y="1620606"/>
            <a:ext cx="7028696" cy="2720066"/>
          </a:xfrm>
        </p:spPr>
        <p:txBody>
          <a:bodyPr/>
          <a:lstStyle/>
          <a:p>
            <a:r>
              <a:rPr lang="es-ES" sz="1600" dirty="0"/>
              <a:t>DenseNet121 + validación estratificada logra AUC ≈ 0,997 y precisión global &gt;95 %, con desempeño estable entre </a:t>
            </a:r>
            <a:r>
              <a:rPr lang="es-ES" sz="1600" dirty="0" err="1"/>
              <a:t>folds</a:t>
            </a:r>
            <a:r>
              <a:rPr lang="es-ES" sz="1600" dirty="0"/>
              <a:t>.</a:t>
            </a:r>
          </a:p>
          <a:p>
            <a:endParaRPr lang="es-ES" sz="1600" dirty="0"/>
          </a:p>
          <a:p>
            <a:r>
              <a:rPr lang="es-ES" sz="1600" dirty="0"/>
              <a:t>El pipeline (preprocesamiento, balanceo, </a:t>
            </a:r>
            <a:r>
              <a:rPr lang="es-ES" sz="1600" dirty="0" err="1"/>
              <a:t>augmentation</a:t>
            </a:r>
            <a:r>
              <a:rPr lang="es-ES" sz="1600" dirty="0"/>
              <a:t>, regularización) mitiga sobreajuste y sesgo de clase.</a:t>
            </a:r>
          </a:p>
          <a:p>
            <a:endParaRPr lang="es-ES" sz="1600" dirty="0"/>
          </a:p>
          <a:p>
            <a:r>
              <a:rPr lang="es-ES" sz="1600" dirty="0"/>
              <a:t>En tamizaje, la preferencia por sensibilidad es consistente con la seguridad del paciente.</a:t>
            </a:r>
          </a:p>
          <a:p>
            <a:endParaRPr lang="es-ES" sz="1600" dirty="0"/>
          </a:p>
          <a:p>
            <a:r>
              <a:rPr lang="es-ES" sz="1600" dirty="0"/>
              <a:t>La solución es aplicable a contextos con recursos limitados como apoyo a la toma de decisiones.</a:t>
            </a:r>
            <a:endParaRPr lang="es-PE" sz="1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5BB081-0718-4131-8787-E63DF9468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21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2134225" y="1759600"/>
            <a:ext cx="6369300" cy="7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Discuciones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23" name="Google Shape;323;p31"/>
          <p:cNvSpPr txBox="1">
            <a:spLocks noGrp="1"/>
          </p:cNvSpPr>
          <p:nvPr>
            <p:ph type="title" idx="2"/>
          </p:nvPr>
        </p:nvSpPr>
        <p:spPr>
          <a:xfrm>
            <a:off x="640475" y="1699750"/>
            <a:ext cx="949800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97917"/>
                </a:solidFill>
              </a:rPr>
              <a:t>05</a:t>
            </a:r>
            <a:endParaRPr dirty="0">
              <a:solidFill>
                <a:srgbClr val="E97917"/>
              </a:solidFill>
            </a:endParaRPr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8556784" y="2912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 dirty="0"/>
          </a:p>
        </p:txBody>
      </p:sp>
      <p:sp>
        <p:nvSpPr>
          <p:cNvPr id="325" name="Google Shape;325;p31"/>
          <p:cNvSpPr/>
          <p:nvPr/>
        </p:nvSpPr>
        <p:spPr>
          <a:xfrm>
            <a:off x="-8467" y="4764750"/>
            <a:ext cx="8486100" cy="393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67000">
                <a:srgbClr val="253F68"/>
              </a:gs>
              <a:gs pos="100000">
                <a:srgbClr val="1A2D4E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80859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7C37B71-65E5-41B1-9FFF-7C723C13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Interpretación y Comparación con Literatura</a:t>
            </a:r>
            <a:endParaRPr lang="es-PE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91A02CDB-084A-40D4-88DE-0597683DE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4" y="1790974"/>
            <a:ext cx="6495296" cy="2549698"/>
          </a:xfrm>
        </p:spPr>
        <p:txBody>
          <a:bodyPr/>
          <a:lstStyle/>
          <a:p>
            <a:r>
              <a:rPr lang="es-ES" dirty="0"/>
              <a:t>Rigor metodológico (estratificación + balanceo </a:t>
            </a:r>
            <a:r>
              <a:rPr lang="es-ES" dirty="0" err="1"/>
              <a:t>in-fold</a:t>
            </a:r>
            <a:r>
              <a:rPr lang="es-ES" dirty="0"/>
              <a:t> + </a:t>
            </a:r>
            <a:r>
              <a:rPr lang="es-ES" dirty="0" err="1"/>
              <a:t>augmentation</a:t>
            </a:r>
            <a:r>
              <a:rPr lang="es-ES" dirty="0"/>
              <a:t> + fine-</a:t>
            </a:r>
            <a:r>
              <a:rPr lang="es-ES" dirty="0" err="1"/>
              <a:t>tuning</a:t>
            </a:r>
            <a:r>
              <a:rPr lang="es-ES" dirty="0"/>
              <a:t>) explica la estabilidad y el alto AUC.</a:t>
            </a:r>
          </a:p>
          <a:p>
            <a:r>
              <a:rPr lang="es-ES" dirty="0"/>
              <a:t>Comparativos cualitativos:</a:t>
            </a:r>
          </a:p>
          <a:p>
            <a:pPr lvl="1" algn="l"/>
            <a:r>
              <a:rPr lang="es-ES" dirty="0" err="1"/>
              <a:t>Ensembles</a:t>
            </a:r>
            <a:r>
              <a:rPr lang="es-ES" dirty="0"/>
              <a:t> CNN y módulos de atención (CBAM/SE) elevan </a:t>
            </a:r>
            <a:r>
              <a:rPr lang="es-ES" dirty="0" err="1"/>
              <a:t>accuracy</a:t>
            </a:r>
            <a:r>
              <a:rPr lang="es-ES" dirty="0"/>
              <a:t> en la literatura; nuestro enfoque demuestra que una sola arquitectura bien afinada y validada rigurosamente puede competir.</a:t>
            </a:r>
          </a:p>
          <a:p>
            <a:pPr lvl="1" algn="l"/>
            <a:r>
              <a:rPr lang="es-ES" dirty="0"/>
              <a:t>Modelos </a:t>
            </a:r>
            <a:r>
              <a:rPr lang="es-ES" dirty="0" err="1"/>
              <a:t>ViT</a:t>
            </a:r>
            <a:r>
              <a:rPr lang="es-ES" dirty="0"/>
              <a:t>/híbridos reportan ganancias, pero con mayor costo computacional; la eficiencia de DenseNet121 es ventajosa para despliegues en recursos limitados.</a:t>
            </a:r>
          </a:p>
          <a:p>
            <a:r>
              <a:rPr lang="es-ES" dirty="0"/>
              <a:t>Implicancias clínicas: priorizar sensibilidad reduce riesgo de omitir neumonías, a costo de más derivaciones por falsos positivos (mitigable con segunda lectura médica)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6D0631-C088-41C7-A83A-9BCB9CBD8C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403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4CCD0-1829-47E7-A080-359FBEDA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802828"/>
            <a:ext cx="6327655" cy="744032"/>
          </a:xfrm>
        </p:spPr>
        <p:txBody>
          <a:bodyPr/>
          <a:lstStyle/>
          <a:p>
            <a:r>
              <a:rPr lang="es-ES" dirty="0"/>
              <a:t>Impacto y Consideraciones Éticas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8C8AF1-983B-4D10-AE33-96C852827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4" y="1790974"/>
            <a:ext cx="5032255" cy="2948665"/>
          </a:xfrm>
        </p:spPr>
        <p:txBody>
          <a:bodyPr/>
          <a:lstStyle/>
          <a:p>
            <a:pPr marL="152400" indent="0">
              <a:buNone/>
            </a:pPr>
            <a:r>
              <a:rPr lang="es-ES" sz="1400" dirty="0"/>
              <a:t>Impacto: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400" dirty="0"/>
              <a:t>Soporte al tamizaje temprano y priorización de pacientes.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400" dirty="0"/>
              <a:t>Escalabilidad en centros con carencia de especialistas.</a:t>
            </a:r>
          </a:p>
          <a:p>
            <a:pPr marL="152400" indent="0">
              <a:buNone/>
            </a:pPr>
            <a:endParaRPr lang="es-ES" sz="1400" dirty="0"/>
          </a:p>
          <a:p>
            <a:pPr marL="152400" indent="0">
              <a:buNone/>
            </a:pPr>
            <a:r>
              <a:rPr lang="es-ES" sz="1400" dirty="0"/>
              <a:t>Ética y seguridad: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400" dirty="0"/>
              <a:t>Uso como apoyo a decisiones, no sustituto del criterio clínico.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400" dirty="0"/>
              <a:t>Evaluaciones de sesgo poblacional y equidad diagnóstica. Trazabilidad de versiones y auditoría continua.</a:t>
            </a:r>
            <a:endParaRPr lang="es-PE" sz="1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9DC9C1-111E-48ED-BBEA-5845D4A4A2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6593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43213-4E48-B29F-D1C6-FE5B211F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6" y="905752"/>
            <a:ext cx="4448100" cy="774900"/>
          </a:xfrm>
        </p:spPr>
        <p:txBody>
          <a:bodyPr/>
          <a:lstStyle/>
          <a:p>
            <a:r>
              <a:rPr lang="es-CL" dirty="0"/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E7DF37-11DD-D23D-ADCB-5E9EDDEA7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596" y="1680941"/>
            <a:ext cx="4363200" cy="719002"/>
          </a:xfrm>
        </p:spPr>
        <p:txBody>
          <a:bodyPr/>
          <a:lstStyle/>
          <a:p>
            <a:r>
              <a:rPr lang="es-CL" sz="2400" b="1" dirty="0"/>
              <a:t>¿Preguntas?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D7AAB3-D8A5-2476-94C1-49E8EBC69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850" y="127000"/>
            <a:ext cx="1306186" cy="10093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ADA8F29-AA4E-58AF-408A-5D496EF0E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33" y="359078"/>
            <a:ext cx="2385054" cy="624657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5FED72C-C64E-CF4A-5E1E-5B17AE5B5496}"/>
              </a:ext>
            </a:extLst>
          </p:cNvPr>
          <p:cNvCxnSpPr/>
          <p:nvPr/>
        </p:nvCxnSpPr>
        <p:spPr>
          <a:xfrm>
            <a:off x="6053667" y="359078"/>
            <a:ext cx="0" cy="5129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B0489701-867D-4EB0-B841-60D166293CC2}"/>
              </a:ext>
            </a:extLst>
          </p:cNvPr>
          <p:cNvSpPr/>
          <p:nvPr/>
        </p:nvSpPr>
        <p:spPr>
          <a:xfrm flipV="1">
            <a:off x="565186" y="1625042"/>
            <a:ext cx="2161081" cy="45719"/>
          </a:xfrm>
          <a:prstGeom prst="roundRect">
            <a:avLst>
              <a:gd name="adj" fmla="val 50000"/>
            </a:avLst>
          </a:prstGeom>
          <a:solidFill>
            <a:srgbClr val="E97917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C1EDB35-7F52-4C14-8827-50A48AB08F65}"/>
              </a:ext>
            </a:extLst>
          </p:cNvPr>
          <p:cNvGrpSpPr/>
          <p:nvPr/>
        </p:nvGrpSpPr>
        <p:grpSpPr>
          <a:xfrm>
            <a:off x="4729093" y="1605141"/>
            <a:ext cx="1324574" cy="1173227"/>
            <a:chOff x="6910599" y="1405544"/>
            <a:chExt cx="1600200" cy="1374628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4322B24-CD3B-474A-84BA-55EAEBF3B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7185660" y="1405544"/>
              <a:ext cx="1050078" cy="1050078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4445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0114AE8E-F369-4B52-8F7E-B2784FA097D7}"/>
                </a:ext>
              </a:extLst>
            </p:cNvPr>
            <p:cNvSpPr txBox="1"/>
            <p:nvPr/>
          </p:nvSpPr>
          <p:spPr>
            <a:xfrm>
              <a:off x="6910599" y="2455622"/>
              <a:ext cx="1600200" cy="32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IIICCD</a:t>
              </a:r>
              <a:endParaRPr lang="es-PE" sz="1200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F4330BE-FB2A-4B65-B8A6-324ACF5477FE}"/>
              </a:ext>
            </a:extLst>
          </p:cNvPr>
          <p:cNvGrpSpPr/>
          <p:nvPr/>
        </p:nvGrpSpPr>
        <p:grpSpPr>
          <a:xfrm>
            <a:off x="5967086" y="3451860"/>
            <a:ext cx="1324574" cy="1164451"/>
            <a:chOff x="6910599" y="1405544"/>
            <a:chExt cx="1600200" cy="1364345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0EA36E1-2439-4AC9-BBDE-9D7AD5E8D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85660" y="1405544"/>
              <a:ext cx="1050078" cy="1050078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4445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AC8D9489-F45E-4B33-B5C2-11FDE40F711D}"/>
                </a:ext>
              </a:extLst>
            </p:cNvPr>
            <p:cNvSpPr txBox="1"/>
            <p:nvPr/>
          </p:nvSpPr>
          <p:spPr>
            <a:xfrm>
              <a:off x="6910599" y="2455622"/>
              <a:ext cx="1600200" cy="314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MARCO MAYTA</a:t>
              </a:r>
              <a:endParaRPr lang="es-PE" sz="1200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0F8FA3-9D72-40CE-B0F9-04C479BC5405}"/>
              </a:ext>
            </a:extLst>
          </p:cNvPr>
          <p:cNvSpPr txBox="1"/>
          <p:nvPr/>
        </p:nvSpPr>
        <p:spPr>
          <a:xfrm>
            <a:off x="430675" y="2705422"/>
            <a:ext cx="37033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sz="1100" dirty="0">
                <a:solidFill>
                  <a:schemeClr val="bg1"/>
                </a:solidFill>
              </a:rPr>
              <a:t>Instituto de Investigación en Inteligencia Computacional y Ciencia de Datos (IIICCD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sz="1100" dirty="0">
                <a:solidFill>
                  <a:schemeClr val="bg1"/>
                </a:solidFill>
              </a:rPr>
              <a:t>Facultad de Ingeniería Estadística e Informática,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sz="1100" dirty="0">
                <a:solidFill>
                  <a:schemeClr val="bg1"/>
                </a:solidFill>
              </a:rPr>
              <a:t>Universidad Nacional del Altiplano de Puno.</a:t>
            </a:r>
            <a:endParaRPr lang="en" sz="1100" dirty="0">
              <a:solidFill>
                <a:schemeClr val="bg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D6231A8-C865-4D1E-86C5-3B54091136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667" b="91556" l="8889" r="91556">
                        <a14:foregroundMark x1="48889" y1="86667" x2="48889" y2="86667"/>
                        <a14:foregroundMark x1="26222" y1="78222" x2="26222" y2="78222"/>
                        <a14:foregroundMark x1="36444" y1="76444" x2="36444" y2="76444"/>
                        <a14:foregroundMark x1="22222" y1="73778" x2="68889" y2="82222"/>
                        <a14:foregroundMark x1="66222" y1="91556" x2="66222" y2="91556"/>
                        <a14:foregroundMark x1="42222" y1="78667" x2="42222" y2="78667"/>
                        <a14:foregroundMark x1="38222" y1="84889" x2="38222" y2="84889"/>
                        <a14:foregroundMark x1="8889" y1="68889" x2="8889" y2="68889"/>
                        <a14:foregroundMark x1="53778" y1="76000" x2="53778" y2="76000"/>
                        <a14:foregroundMark x1="42667" y1="8444" x2="42667" y2="8444"/>
                        <a14:foregroundMark x1="59556" y1="7111" x2="59556" y2="7111"/>
                        <a14:foregroundMark x1="87556" y1="47111" x2="87556" y2="47111"/>
                        <a14:foregroundMark x1="88444" y1="68444" x2="88444" y2="68444"/>
                        <a14:foregroundMark x1="91556" y1="69333" x2="91556" y2="69333"/>
                        <a14:foregroundMark x1="50667" y1="39111" x2="48444" y2="57333"/>
                        <a14:foregroundMark x1="32889" y1="50222" x2="54667" y2="80000"/>
                        <a14:foregroundMark x1="83111" y1="73333" x2="65778" y2="711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52340" y="3735372"/>
            <a:ext cx="880938" cy="8809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27BEDF1F-AE0D-4B7E-9129-D22B2AD53AF8}"/>
              </a:ext>
            </a:extLst>
          </p:cNvPr>
          <p:cNvGrpSpPr/>
          <p:nvPr/>
        </p:nvGrpSpPr>
        <p:grpSpPr>
          <a:xfrm>
            <a:off x="3035009" y="3780342"/>
            <a:ext cx="757626" cy="791213"/>
            <a:chOff x="2264468" y="3772819"/>
            <a:chExt cx="1090317" cy="1060040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F39FC88B-FE09-4E51-BF3C-325152C8DA16}"/>
                </a:ext>
              </a:extLst>
            </p:cNvPr>
            <p:cNvPicPr/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9" t="10583" r="20414" b="24365"/>
            <a:stretch/>
          </p:blipFill>
          <p:spPr bwMode="auto">
            <a:xfrm>
              <a:off x="2387911" y="3772819"/>
              <a:ext cx="880937" cy="75481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A02B0A81-69C2-4FEB-A0F7-0F59390D406C}"/>
                </a:ext>
              </a:extLst>
            </p:cNvPr>
            <p:cNvSpPr txBox="1"/>
            <p:nvPr/>
          </p:nvSpPr>
          <p:spPr>
            <a:xfrm>
              <a:off x="2264468" y="4582701"/>
              <a:ext cx="1090317" cy="250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s-PE" sz="600" u="sng" kern="100" dirty="0">
                  <a:solidFill>
                    <a:schemeClr val="bg1"/>
                  </a:solidFill>
                  <a:effectLst/>
                  <a:latin typeface="Wide Latin" panose="020A0A07050505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IIICCD</a:t>
              </a:r>
              <a:endParaRPr lang="es-PE" sz="1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5C567C2E-471E-442C-9514-1126C5767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64" y="3706266"/>
            <a:ext cx="776045" cy="83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CB457650-CC5E-4CD0-8C49-6F43ABAE8AE3}"/>
              </a:ext>
            </a:extLst>
          </p:cNvPr>
          <p:cNvGrpSpPr/>
          <p:nvPr/>
        </p:nvGrpSpPr>
        <p:grpSpPr>
          <a:xfrm>
            <a:off x="7243795" y="1469015"/>
            <a:ext cx="1324574" cy="1309352"/>
            <a:chOff x="7243795" y="1468486"/>
            <a:chExt cx="1324574" cy="1300517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75AC2FA2-E295-411B-B068-2DCE5C79E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01419" y="1468486"/>
              <a:ext cx="1009326" cy="1009326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4445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DA6670A2-1078-4546-8961-709966772837}"/>
                </a:ext>
              </a:extLst>
            </p:cNvPr>
            <p:cNvSpPr txBox="1"/>
            <p:nvPr/>
          </p:nvSpPr>
          <p:spPr>
            <a:xfrm>
              <a:off x="7243795" y="2492004"/>
              <a:ext cx="1324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NeuAPP</a:t>
              </a:r>
              <a:r>
                <a:rPr lang="es-ES" sz="12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 v1</a:t>
              </a:r>
              <a:endParaRPr lang="es-PE" sz="1200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468211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Writing Prompts by Slidesgo">
  <a:themeElements>
    <a:clrScheme name="Personalizados 1">
      <a:dk1>
        <a:srgbClr val="0A1322"/>
      </a:dk1>
      <a:lt1>
        <a:srgbClr val="FEFFFF"/>
      </a:lt1>
      <a:dk2>
        <a:srgbClr val="2A4B83"/>
      </a:dk2>
      <a:lt2>
        <a:srgbClr val="203866"/>
      </a:lt2>
      <a:accent1>
        <a:srgbClr val="E8791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87917"/>
      </a:hlink>
      <a:folHlink>
        <a:srgbClr val="4677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1333</Words>
  <Application>Microsoft Office PowerPoint</Application>
  <PresentationFormat>Presentación en pantalla (16:9)</PresentationFormat>
  <Paragraphs>293</Paragraphs>
  <Slides>23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5" baseType="lpstr">
      <vt:lpstr>Arial</vt:lpstr>
      <vt:lpstr>Bahnschrift</vt:lpstr>
      <vt:lpstr>DM Sans</vt:lpstr>
      <vt:lpstr>Bebas Neue</vt:lpstr>
      <vt:lpstr>Wingdings</vt:lpstr>
      <vt:lpstr>Nunito Light</vt:lpstr>
      <vt:lpstr>Wide Latin</vt:lpstr>
      <vt:lpstr>Open Sans Light</vt:lpstr>
      <vt:lpstr>Funnel Sans</vt:lpstr>
      <vt:lpstr>Calibri</vt:lpstr>
      <vt:lpstr>Anaheim</vt:lpstr>
      <vt:lpstr>Creative Writing Prompts by Slidesgo</vt:lpstr>
      <vt:lpstr>Detección de Neumonía a Partir de Radiografías de Tórax Mediante Validación Cruzada Estratificada y Fine-Tuning de DenseNet121</vt:lpstr>
      <vt:lpstr>Tabla de contenidos</vt:lpstr>
      <vt:lpstr>Introducción</vt:lpstr>
      <vt:lpstr>Contexto</vt:lpstr>
      <vt:lpstr>Objetivo</vt:lpstr>
      <vt:lpstr>Antecedentes y Brecha</vt:lpstr>
      <vt:lpstr>Metodología</vt:lpstr>
      <vt:lpstr>Antecedentes y Brecha</vt:lpstr>
      <vt:lpstr>Arquitectura y Fine-Tuning</vt:lpstr>
      <vt:lpstr>Optimización y Regularización</vt:lpstr>
      <vt:lpstr>Esquema de Validación</vt:lpstr>
      <vt:lpstr>Resultados</vt:lpstr>
      <vt:lpstr>Resultados Globales </vt:lpstr>
      <vt:lpstr>Desempeño del modelo durante la validación cruzada estratificada (k=5)</vt:lpstr>
      <vt:lpstr>Matrices de Confusión y Hallazgos</vt:lpstr>
      <vt:lpstr>Resultados por Fold (última época)</vt:lpstr>
      <vt:lpstr>QR streamlit Grad-CAM</vt:lpstr>
      <vt:lpstr>Conclusiones</vt:lpstr>
      <vt:lpstr>Conclusiones</vt:lpstr>
      <vt:lpstr>Discuciones</vt:lpstr>
      <vt:lpstr>Interpretación y Comparación con Literatura</vt:lpstr>
      <vt:lpstr>Impacto y Consideraciones Éticas</vt:lpstr>
      <vt:lpstr>Gracias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 la presentación</dc:title>
  <dc:subject/>
  <dc:creator>HP</dc:creator>
  <cp:keywords/>
  <dc:description/>
  <cp:lastModifiedBy>Marco Mayta</cp:lastModifiedBy>
  <cp:revision>16</cp:revision>
  <dcterms:modified xsi:type="dcterms:W3CDTF">2025-09-03T00:59:26Z</dcterms:modified>
  <cp:category/>
</cp:coreProperties>
</file>